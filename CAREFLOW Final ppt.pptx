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257" r:id="rId5"/>
    <p:sldId id="258" r:id="rId6"/>
    <p:sldId id="260" r:id="rId7"/>
    <p:sldId id="276" r:id="rId8"/>
    <p:sldId id="295" r:id="rId9"/>
    <p:sldId id="288" r:id="rId10"/>
    <p:sldId id="278" r:id="rId11"/>
    <p:sldId id="280" r:id="rId12"/>
    <p:sldId id="282" r:id="rId13"/>
    <p:sldId id="281" r:id="rId14"/>
    <p:sldId id="283" r:id="rId15"/>
    <p:sldId id="284" r:id="rId16"/>
    <p:sldId id="285" r:id="rId17"/>
    <p:sldId id="291" r:id="rId18"/>
    <p:sldId id="292" r:id="rId19"/>
    <p:sldId id="287" r:id="rId20"/>
    <p:sldId id="293" r:id="rId21"/>
    <p:sldId id="294" r:id="rId22"/>
    <p:sldId id="289" r:id="rId23"/>
    <p:sldId id="27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4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5716D-39C9-48C4-A3EB-B88E4515427D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C6D3C-9EB0-4F2C-9026-3887D1CDB4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763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8D39141-3E8E-4545-90DB-291A0E5F13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chemeClr val="tx1">
              <a:lumMod val="75000"/>
              <a:lumOff val="25000"/>
            </a:schemeClr>
          </a:solidFill>
        </p:spPr>
        <p:txBody>
          <a:bodyPr lIns="612000" tIns="0" anchor="ctr"/>
          <a:lstStyle>
            <a:lvl1pPr marL="0" indent="0" algn="l">
              <a:lnSpc>
                <a:spcPct val="100000"/>
              </a:lnSpc>
              <a:buNone/>
              <a:defRPr sz="12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0A062-54B3-47F2-9D6A-5BC957520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000" y="0"/>
            <a:ext cx="9672000" cy="6857999"/>
          </a:xfrm>
          <a:solidFill>
            <a:schemeClr val="tx2">
              <a:alpha val="70000"/>
            </a:schemeClr>
          </a:solidFill>
        </p:spPr>
        <p:txBody>
          <a:bodyPr lIns="1116000" rIns="180000" anchor="ctr"/>
          <a:lstStyle>
            <a:lvl1pPr algn="l">
              <a:defRPr sz="5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C97F3D-57FA-4E82-9EEC-E93088055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0000" y="4276447"/>
            <a:ext cx="5161550" cy="620016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144000" anchor="ctr"/>
          <a:lstStyle>
            <a:lvl1pPr marL="0" indent="0" algn="l">
              <a:buNone/>
              <a:defRPr sz="2400" b="1" i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31775C8-C7F0-4EC5-A9C0-53AE3A0C5F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600000" y="6262080"/>
            <a:ext cx="7560000" cy="36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E8B0AE2-DA19-49E2-AC81-5272385D30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75689F-8B6B-4484-8064-90B4D8FB7C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7343" y="2731933"/>
            <a:ext cx="6903253" cy="3350673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576000" tIns="1872000" rIns="576000"/>
          <a:lstStyle>
            <a:lvl1pPr marL="0" indent="0">
              <a:lnSpc>
                <a:spcPts val="2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Describe Your Big Idea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C57B9832-0120-4094-8C27-082E3533C5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012000" cy="6858000"/>
          </a:xfrm>
          <a:custGeom>
            <a:avLst/>
            <a:gdLst>
              <a:gd name="connsiteX0" fmla="*/ 0 w 12012000"/>
              <a:gd name="connsiteY0" fmla="*/ 0 h 6858000"/>
              <a:gd name="connsiteX1" fmla="*/ 8592000 w 12012000"/>
              <a:gd name="connsiteY1" fmla="*/ 0 h 6858000"/>
              <a:gd name="connsiteX2" fmla="*/ 8592000 w 12012000"/>
              <a:gd name="connsiteY2" fmla="*/ 180000 h 6858000"/>
              <a:gd name="connsiteX3" fmla="*/ 12012000 w 12012000"/>
              <a:gd name="connsiteY3" fmla="*/ 180000 h 6858000"/>
              <a:gd name="connsiteX4" fmla="*/ 12012000 w 12012000"/>
              <a:gd name="connsiteY4" fmla="*/ 6678000 h 6858000"/>
              <a:gd name="connsiteX5" fmla="*/ 8592000 w 12012000"/>
              <a:gd name="connsiteY5" fmla="*/ 6678000 h 6858000"/>
              <a:gd name="connsiteX6" fmla="*/ 8592000 w 12012000"/>
              <a:gd name="connsiteY6" fmla="*/ 6858000 h 6858000"/>
              <a:gd name="connsiteX7" fmla="*/ 0 w 1201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012000" h="6858000">
                <a:moveTo>
                  <a:pt x="0" y="0"/>
                </a:moveTo>
                <a:lnTo>
                  <a:pt x="8592000" y="0"/>
                </a:lnTo>
                <a:lnTo>
                  <a:pt x="8592000" y="180000"/>
                </a:lnTo>
                <a:lnTo>
                  <a:pt x="12012000" y="180000"/>
                </a:lnTo>
                <a:lnTo>
                  <a:pt x="12012000" y="6678000"/>
                </a:lnTo>
                <a:lnTo>
                  <a:pt x="8592000" y="6678000"/>
                </a:lnTo>
                <a:lnTo>
                  <a:pt x="8592000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0" tIns="0" rIns="61200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3999" y="6262080"/>
            <a:ext cx="6190934" cy="36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EAF90A48-1BFB-4A19-9A1C-2851879F9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9778" y="3096087"/>
            <a:ext cx="5455750" cy="1008000"/>
          </a:xfrm>
        </p:spPr>
        <p:txBody>
          <a:bodyPr/>
          <a:lstStyle>
            <a:lvl1pPr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9E79024-4B2E-43B0-8607-196181AB731F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593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X Number &amp; 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767CE6DD-011B-4E2D-9E8A-EFF414E39E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764000" r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5"/>
            <a:ext cx="7560000" cy="36000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E75A4B-2655-4B0E-8D3B-0068F57D3D9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F266E5-40A6-4643-B9AC-B38F272563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2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CB790CB-E4F5-4B61-A03E-1CA0C32E3F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0455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570684C-B743-402E-8778-A65199577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710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CEC7149-9A00-4CA4-B800-1BFD6EBEB8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97255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374F0E2-36BA-43B5-8799-77AA3367DF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69707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BA12174-6A24-4E61-8D58-B3B42C31BE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96056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3A67B21-0E8B-4922-94F9-20492309C4D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46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D801C20C-82D2-465E-8D45-DF1A57E045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0855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62BAD45E-2039-4F8D-9CFC-42BFA3756A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31412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64A78879-6338-4F3B-864E-8FF4E08C006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57654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80118439-B306-4F20-9200-1C429EADC7E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01000" y="5271502"/>
            <a:ext cx="1990001" cy="620016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0" anchor="ctr"/>
          <a:lstStyle>
            <a:lvl1pPr marL="0" indent="0" algn="ctr">
              <a:buNone/>
              <a:defRPr sz="2400" b="1" i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Outcome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9B7E7F2-DF6B-4441-B0B1-7E87E29BA3A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98550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ED41522A-FBAF-4E5D-B592-F13855964E8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385350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AA51069C-E1DC-44A0-A6A0-2A4AB0DD4D70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684044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42F6437E-5478-451F-9BE3-E8160EA4351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958950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25127DFD-53A7-41A8-B591-AEEC1203802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245749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892583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0 40 Vertical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F76D43D-0DDD-4BAD-8213-BDBF75C3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6118" y="4338116"/>
            <a:ext cx="10839764" cy="45719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6D3ACF3-E1F5-4332-9836-C8E6C46591B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43438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DF8FE7-66F4-4586-B49B-61E115ED2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5B890-F885-418C-9812-59970CAC6B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521507-88DE-417D-8076-D9152E1E14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C7DDD-6F93-45F8-AFD6-95AA051FE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1CD6042-5DF4-4624-BC32-25F68745304A}"/>
              </a:ext>
            </a:extLst>
          </p:cNvPr>
          <p:cNvSpPr/>
          <p:nvPr userDrawn="1"/>
        </p:nvSpPr>
        <p:spPr>
          <a:xfrm rot="5400000">
            <a:off x="8220300" y="371700"/>
            <a:ext cx="4343400" cy="3600000"/>
          </a:xfrm>
          <a:custGeom>
            <a:avLst/>
            <a:gdLst>
              <a:gd name="connsiteX0" fmla="*/ 0 w 4343400"/>
              <a:gd name="connsiteY0" fmla="*/ 3600000 h 3600000"/>
              <a:gd name="connsiteX1" fmla="*/ 0 w 4343400"/>
              <a:gd name="connsiteY1" fmla="*/ 0 h 3600000"/>
              <a:gd name="connsiteX2" fmla="*/ 180000 w 4343400"/>
              <a:gd name="connsiteY2" fmla="*/ 0 h 3600000"/>
              <a:gd name="connsiteX3" fmla="*/ 4343400 w 4343400"/>
              <a:gd name="connsiteY3" fmla="*/ 0 h 3600000"/>
              <a:gd name="connsiteX4" fmla="*/ 4343400 w 4343400"/>
              <a:gd name="connsiteY4" fmla="*/ 180000 h 3600000"/>
              <a:gd name="connsiteX5" fmla="*/ 180000 w 4343400"/>
              <a:gd name="connsiteY5" fmla="*/ 180000 h 3600000"/>
              <a:gd name="connsiteX6" fmla="*/ 180000 w 4343400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3400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4343400" y="0"/>
                </a:lnTo>
                <a:lnTo>
                  <a:pt x="43434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294759C-286C-4281-B194-581C766EEF28}"/>
              </a:ext>
            </a:extLst>
          </p:cNvPr>
          <p:cNvSpPr/>
          <p:nvPr userDrawn="1"/>
        </p:nvSpPr>
        <p:spPr>
          <a:xfrm rot="5400000">
            <a:off x="9134700" y="3800700"/>
            <a:ext cx="2514600" cy="3600000"/>
          </a:xfrm>
          <a:custGeom>
            <a:avLst/>
            <a:gdLst>
              <a:gd name="connsiteX0" fmla="*/ 0 w 2514600"/>
              <a:gd name="connsiteY0" fmla="*/ 180000 h 3600000"/>
              <a:gd name="connsiteX1" fmla="*/ 0 w 2514600"/>
              <a:gd name="connsiteY1" fmla="*/ 0 h 3600000"/>
              <a:gd name="connsiteX2" fmla="*/ 2334600 w 2514600"/>
              <a:gd name="connsiteY2" fmla="*/ 0 h 3600000"/>
              <a:gd name="connsiteX3" fmla="*/ 2514600 w 2514600"/>
              <a:gd name="connsiteY3" fmla="*/ 0 h 3600000"/>
              <a:gd name="connsiteX4" fmla="*/ 2514600 w 2514600"/>
              <a:gd name="connsiteY4" fmla="*/ 180000 h 3600000"/>
              <a:gd name="connsiteX5" fmla="*/ 2514600 w 2514600"/>
              <a:gd name="connsiteY5" fmla="*/ 3600000 h 3600000"/>
              <a:gd name="connsiteX6" fmla="*/ 2334600 w 2514600"/>
              <a:gd name="connsiteY6" fmla="*/ 3600000 h 3600000"/>
              <a:gd name="connsiteX7" fmla="*/ 2334600 w 2514600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14600" h="3600000">
                <a:moveTo>
                  <a:pt x="0" y="180000"/>
                </a:moveTo>
                <a:lnTo>
                  <a:pt x="0" y="0"/>
                </a:lnTo>
                <a:lnTo>
                  <a:pt x="2334600" y="0"/>
                </a:lnTo>
                <a:lnTo>
                  <a:pt x="2514600" y="0"/>
                </a:lnTo>
                <a:lnTo>
                  <a:pt x="2514600" y="180000"/>
                </a:lnTo>
                <a:lnTo>
                  <a:pt x="2514600" y="3600000"/>
                </a:lnTo>
                <a:lnTo>
                  <a:pt x="2334600" y="3600000"/>
                </a:lnTo>
                <a:lnTo>
                  <a:pt x="2334600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78943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x Content Block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E6622698-E93D-4214-8C21-38DBE58C2E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224000" r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706BC54-FE11-4237-96CC-8DA267DB5D7C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0581" y="2186444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70581" y="1775806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1291" y="2186444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31291" y="1775806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92000" y="2186444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92000" y="1775806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3E6D854C-C76F-49BA-9E74-F438CA8EA9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70581" y="4335857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D447D7D-C1F4-4AD4-AE22-EB8E7F1C41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70581" y="3925219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49DF703-38D0-4214-9432-83570E10EF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1291" y="4335857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F9EB6572-1A9F-4672-8E42-A4E15451CA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31291" y="3925219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0740EB70-455C-47FF-9A9A-0D78D202ED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92000" y="4335857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CD9A5773-4F50-4631-9B7A-0A2D83E5DC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92000" y="3925219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3875987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 x Content Block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5350A6A-6F84-47F4-AE00-8295D96D08C8}"/>
              </a:ext>
            </a:extLst>
          </p:cNvPr>
          <p:cNvSpPr/>
          <p:nvPr userDrawn="1"/>
        </p:nvSpPr>
        <p:spPr>
          <a:xfrm rot="5400000">
            <a:off x="8677500" y="3343500"/>
            <a:ext cx="3429000" cy="3600000"/>
          </a:xfrm>
          <a:custGeom>
            <a:avLst/>
            <a:gdLst>
              <a:gd name="connsiteX0" fmla="*/ 0 w 3429000"/>
              <a:gd name="connsiteY0" fmla="*/ 180000 h 3600000"/>
              <a:gd name="connsiteX1" fmla="*/ 0 w 3429000"/>
              <a:gd name="connsiteY1" fmla="*/ 0 h 3600000"/>
              <a:gd name="connsiteX2" fmla="*/ 3249000 w 3429000"/>
              <a:gd name="connsiteY2" fmla="*/ 0 h 3600000"/>
              <a:gd name="connsiteX3" fmla="*/ 3429000 w 3429000"/>
              <a:gd name="connsiteY3" fmla="*/ 0 h 3600000"/>
              <a:gd name="connsiteX4" fmla="*/ 3429000 w 3429000"/>
              <a:gd name="connsiteY4" fmla="*/ 180000 h 3600000"/>
              <a:gd name="connsiteX5" fmla="*/ 3429000 w 3429000"/>
              <a:gd name="connsiteY5" fmla="*/ 3600000 h 3600000"/>
              <a:gd name="connsiteX6" fmla="*/ 3249000 w 3429000"/>
              <a:gd name="connsiteY6" fmla="*/ 3600000 h 3600000"/>
              <a:gd name="connsiteX7" fmla="*/ 3249000 w 3429000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000" h="3600000">
                <a:moveTo>
                  <a:pt x="0" y="180000"/>
                </a:moveTo>
                <a:lnTo>
                  <a:pt x="0" y="0"/>
                </a:lnTo>
                <a:lnTo>
                  <a:pt x="3249000" y="0"/>
                </a:lnTo>
                <a:lnTo>
                  <a:pt x="3429000" y="0"/>
                </a:lnTo>
                <a:lnTo>
                  <a:pt x="3429000" y="180000"/>
                </a:lnTo>
                <a:lnTo>
                  <a:pt x="3429000" y="3600000"/>
                </a:lnTo>
                <a:lnTo>
                  <a:pt x="3249000" y="3600000"/>
                </a:lnTo>
                <a:lnTo>
                  <a:pt x="3249000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34294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2863" y="3668499"/>
            <a:ext cx="3276000" cy="2238815"/>
          </a:xfrm>
        </p:spPr>
        <p:txBody>
          <a:bodyPr lIns="10800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863" y="3068555"/>
            <a:ext cx="3276000" cy="360445"/>
          </a:xfrm>
          <a:solidFill>
            <a:schemeClr val="tx2"/>
          </a:solidFill>
        </p:spPr>
        <p:txBody>
          <a:bodyPr lIns="10800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5432" y="3668499"/>
            <a:ext cx="3276000" cy="2238815"/>
          </a:xfrm>
        </p:spPr>
        <p:txBody>
          <a:bodyPr lIns="10800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5432" y="3068555"/>
            <a:ext cx="3276000" cy="360445"/>
          </a:xfrm>
          <a:solidFill>
            <a:schemeClr val="tx2"/>
          </a:solidFill>
        </p:spPr>
        <p:txBody>
          <a:bodyPr lIns="10800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8000" y="3668499"/>
            <a:ext cx="3276000" cy="2238815"/>
          </a:xfrm>
        </p:spPr>
        <p:txBody>
          <a:bodyPr lIns="10800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08000" y="3068555"/>
            <a:ext cx="3276000" cy="360445"/>
          </a:xfrm>
          <a:solidFill>
            <a:schemeClr val="tx2"/>
          </a:solidFill>
        </p:spPr>
        <p:txBody>
          <a:bodyPr lIns="10800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8989EC4C-4E3F-457F-8CF6-8A88DE68A93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908907" y="2005142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67FB2730-3D12-4D72-AE64-AC3955C5CD9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671476" y="2005142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1" name="Picture Placeholder 25">
            <a:extLst>
              <a:ext uri="{FF2B5EF4-FFF2-40B4-BE49-F238E27FC236}">
                <a16:creationId xmlns:a16="http://schemas.microsoft.com/office/drawing/2014/main" id="{4F2BB90C-4866-4DB3-B05C-0BB7DBFF8EA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434044" y="2005142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EA98CFA-B2A7-4BCC-B1DC-01CFAD2DD65E}"/>
              </a:ext>
            </a:extLst>
          </p:cNvPr>
          <p:cNvSpPr/>
          <p:nvPr userDrawn="1"/>
        </p:nvSpPr>
        <p:spPr>
          <a:xfrm rot="5400000">
            <a:off x="8677500" y="-85500"/>
            <a:ext cx="3429000" cy="3600000"/>
          </a:xfrm>
          <a:custGeom>
            <a:avLst/>
            <a:gdLst>
              <a:gd name="connsiteX0" fmla="*/ 0 w 3429000"/>
              <a:gd name="connsiteY0" fmla="*/ 3600000 h 3600000"/>
              <a:gd name="connsiteX1" fmla="*/ 0 w 3429000"/>
              <a:gd name="connsiteY1" fmla="*/ 0 h 3600000"/>
              <a:gd name="connsiteX2" fmla="*/ 180000 w 3429000"/>
              <a:gd name="connsiteY2" fmla="*/ 0 h 3600000"/>
              <a:gd name="connsiteX3" fmla="*/ 3429000 w 3429000"/>
              <a:gd name="connsiteY3" fmla="*/ 0 h 3600000"/>
              <a:gd name="connsiteX4" fmla="*/ 3429000 w 3429000"/>
              <a:gd name="connsiteY4" fmla="*/ 180000 h 3600000"/>
              <a:gd name="connsiteX5" fmla="*/ 180000 w 3429000"/>
              <a:gd name="connsiteY5" fmla="*/ 180000 h 3600000"/>
              <a:gd name="connsiteX6" fmla="*/ 180000 w 3429000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29000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3429000" y="0"/>
                </a:lnTo>
                <a:lnTo>
                  <a:pt x="3429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2598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752CBEE-7696-40FC-AB0E-8790B179D18C}"/>
              </a:ext>
            </a:extLst>
          </p:cNvPr>
          <p:cNvSpPr/>
          <p:nvPr userDrawn="1"/>
        </p:nvSpPr>
        <p:spPr>
          <a:xfrm rot="5400000">
            <a:off x="8188485" y="2854485"/>
            <a:ext cx="4407031" cy="3600000"/>
          </a:xfrm>
          <a:custGeom>
            <a:avLst/>
            <a:gdLst>
              <a:gd name="connsiteX0" fmla="*/ 0 w 4407031"/>
              <a:gd name="connsiteY0" fmla="*/ 180000 h 3600000"/>
              <a:gd name="connsiteX1" fmla="*/ 0 w 4407031"/>
              <a:gd name="connsiteY1" fmla="*/ 0 h 3600000"/>
              <a:gd name="connsiteX2" fmla="*/ 4227031 w 4407031"/>
              <a:gd name="connsiteY2" fmla="*/ 0 h 3600000"/>
              <a:gd name="connsiteX3" fmla="*/ 4407031 w 4407031"/>
              <a:gd name="connsiteY3" fmla="*/ 0 h 3600000"/>
              <a:gd name="connsiteX4" fmla="*/ 4407031 w 4407031"/>
              <a:gd name="connsiteY4" fmla="*/ 180000 h 3600000"/>
              <a:gd name="connsiteX5" fmla="*/ 4407031 w 4407031"/>
              <a:gd name="connsiteY5" fmla="*/ 3600000 h 3600000"/>
              <a:gd name="connsiteX6" fmla="*/ 4227031 w 4407031"/>
              <a:gd name="connsiteY6" fmla="*/ 3600000 h 3600000"/>
              <a:gd name="connsiteX7" fmla="*/ 4227031 w 4407031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7031" h="3600000">
                <a:moveTo>
                  <a:pt x="0" y="180000"/>
                </a:moveTo>
                <a:lnTo>
                  <a:pt x="0" y="0"/>
                </a:lnTo>
                <a:lnTo>
                  <a:pt x="4227031" y="0"/>
                </a:lnTo>
                <a:lnTo>
                  <a:pt x="4407031" y="0"/>
                </a:lnTo>
                <a:lnTo>
                  <a:pt x="4407031" y="180000"/>
                </a:lnTo>
                <a:lnTo>
                  <a:pt x="4407031" y="3600000"/>
                </a:lnTo>
                <a:lnTo>
                  <a:pt x="4227031" y="3600000"/>
                </a:lnTo>
                <a:lnTo>
                  <a:pt x="4227031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2451405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9445125-53D2-43B3-8ABC-C88E463BE7DD}"/>
              </a:ext>
            </a:extLst>
          </p:cNvPr>
          <p:cNvSpPr/>
          <p:nvPr userDrawn="1"/>
        </p:nvSpPr>
        <p:spPr>
          <a:xfrm rot="5400000">
            <a:off x="9166516" y="-574515"/>
            <a:ext cx="2450969" cy="3600000"/>
          </a:xfrm>
          <a:custGeom>
            <a:avLst/>
            <a:gdLst>
              <a:gd name="connsiteX0" fmla="*/ 0 w 2450969"/>
              <a:gd name="connsiteY0" fmla="*/ 3600000 h 3600000"/>
              <a:gd name="connsiteX1" fmla="*/ 0 w 2450969"/>
              <a:gd name="connsiteY1" fmla="*/ 0 h 3600000"/>
              <a:gd name="connsiteX2" fmla="*/ 180000 w 2450969"/>
              <a:gd name="connsiteY2" fmla="*/ 0 h 3600000"/>
              <a:gd name="connsiteX3" fmla="*/ 2450969 w 2450969"/>
              <a:gd name="connsiteY3" fmla="*/ 0 h 3600000"/>
              <a:gd name="connsiteX4" fmla="*/ 2450969 w 2450969"/>
              <a:gd name="connsiteY4" fmla="*/ 180000 h 3600000"/>
              <a:gd name="connsiteX5" fmla="*/ 180000 w 2450969"/>
              <a:gd name="connsiteY5" fmla="*/ 180000 h 3600000"/>
              <a:gd name="connsiteX6" fmla="*/ 180000 w 2450969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50969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2450969" y="0"/>
                </a:lnTo>
                <a:lnTo>
                  <a:pt x="2450969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59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- Full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767CE6DD-011B-4E2D-9E8A-EFF414E39E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764000" r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5"/>
            <a:ext cx="7560000" cy="36000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E75A4B-2655-4B0E-8D3B-0068F57D3D9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0A18EF7D-14D0-4362-B8BD-722D3D54D4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039369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67FF01B-795B-4F5D-87AF-6CAA8DD5D48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F32FC1-1FF6-4874-9835-EB1A90F7E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039E70-36A3-46C1-B30E-CA4CC0B36C5D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738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68584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8907576-77BD-4FD0-A9FE-48D249CB435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03794" y="3407563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03794" y="3005055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66363" y="3407563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66363" y="3005055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28931" y="3407563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28931" y="3005055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8989EC4C-4E3F-457F-8CF6-8A88DE68A93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867711" y="1648853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67FB2730-3D12-4D72-AE64-AC3955C5CD9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630280" y="1648853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1" name="Picture Placeholder 25">
            <a:extLst>
              <a:ext uri="{FF2B5EF4-FFF2-40B4-BE49-F238E27FC236}">
                <a16:creationId xmlns:a16="http://schemas.microsoft.com/office/drawing/2014/main" id="{4F2BB90C-4866-4DB3-B05C-0BB7DBFF8EA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392848" y="1648853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FE407FE5-15DF-40F7-B14C-0A04CC30CD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03794" y="5736658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7DD73F77-2E6A-450D-B4AF-8643D8AE1EC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03794" y="5334150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7F1CAED2-2A78-4780-A303-060C24C5652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66363" y="5736658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4E77CA0B-49F8-4EE9-84A7-AB28FD1CC1E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66363" y="5334150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5D4F2294-CE3A-4705-BCB3-C5DAFA373C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8931" y="5736658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7B49F9AF-7698-444D-8D12-FA0B6A713E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28931" y="5334150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33" name="Picture Placeholder 25">
            <a:extLst>
              <a:ext uri="{FF2B5EF4-FFF2-40B4-BE49-F238E27FC236}">
                <a16:creationId xmlns:a16="http://schemas.microsoft.com/office/drawing/2014/main" id="{6057C2E9-1501-4819-B77D-23A0268DB0F1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867711" y="3977948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4" name="Picture Placeholder 25">
            <a:extLst>
              <a:ext uri="{FF2B5EF4-FFF2-40B4-BE49-F238E27FC236}">
                <a16:creationId xmlns:a16="http://schemas.microsoft.com/office/drawing/2014/main" id="{C77B8544-1CEE-4ED4-89E8-ED042673804D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630280" y="3977948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Picture Placeholder 25">
            <a:extLst>
              <a:ext uri="{FF2B5EF4-FFF2-40B4-BE49-F238E27FC236}">
                <a16:creationId xmlns:a16="http://schemas.microsoft.com/office/drawing/2014/main" id="{E1131D92-0382-469E-A358-A2EC5FDCCF32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392848" y="3977948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0EBF36-B9CA-4962-B198-27B56B54E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92197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4D42A7-FF15-4C9E-9657-33DD5BC539D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FA555C0-B108-4047-8AFF-82E05F0734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EAA7C-AE70-48A8-B582-013424EB9C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95500" y="1992933"/>
            <a:ext cx="9388499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98EA298-DD21-4B69-8125-094245EDF7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4213" y="1992934"/>
            <a:ext cx="1095375" cy="1095375"/>
          </a:xfrm>
        </p:spPr>
        <p:txBody>
          <a:bodyPr anchor="ctr"/>
          <a:lstStyle>
            <a:lvl1pPr marL="0" indent="0" algn="ctr">
              <a:buNone/>
              <a:defRPr sz="1050" i="1"/>
            </a:lvl1pPr>
          </a:lstStyle>
          <a:p>
            <a:r>
              <a:rPr lang="en-US" dirty="0"/>
              <a:t>Place</a:t>
            </a:r>
            <a:br>
              <a:rPr lang="en-US" dirty="0"/>
            </a:br>
            <a:r>
              <a:rPr lang="en-US" dirty="0"/>
              <a:t>Your Image / Logo Here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4C93EFCC-1E62-4200-9E96-2476EE2581B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4213" y="3431134"/>
            <a:ext cx="1095375" cy="1095375"/>
          </a:xfrm>
        </p:spPr>
        <p:txBody>
          <a:bodyPr anchor="ctr"/>
          <a:lstStyle>
            <a:lvl1pPr marL="0" indent="0" algn="ctr">
              <a:buNone/>
              <a:defRPr sz="1050" i="1"/>
            </a:lvl1pPr>
          </a:lstStyle>
          <a:p>
            <a:r>
              <a:rPr lang="en-US" dirty="0"/>
              <a:t>Place</a:t>
            </a:r>
            <a:br>
              <a:rPr lang="en-US" dirty="0"/>
            </a:br>
            <a:r>
              <a:rPr lang="en-US" dirty="0"/>
              <a:t>Your Image / Logo Here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8741D874-BD81-4469-AA1C-32517FD7C37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4213" y="4869334"/>
            <a:ext cx="1095375" cy="1095375"/>
          </a:xfrm>
        </p:spPr>
        <p:txBody>
          <a:bodyPr anchor="ctr"/>
          <a:lstStyle>
            <a:lvl1pPr marL="0" indent="0" algn="ctr">
              <a:buNone/>
              <a:defRPr sz="1050" i="1"/>
            </a:lvl1pPr>
          </a:lstStyle>
          <a:p>
            <a:r>
              <a:rPr lang="en-US" dirty="0"/>
              <a:t>Place</a:t>
            </a:r>
            <a:br>
              <a:rPr lang="en-US" dirty="0"/>
            </a:br>
            <a:r>
              <a:rPr lang="en-US" dirty="0"/>
              <a:t>Your Image / Logo Here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FB0B599-DDEF-43E9-A07F-FC328C595BCE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2095500" y="3422739"/>
            <a:ext cx="9388499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3FF0857-6431-48DC-BE82-9A93C55CEFB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2095500" y="4867850"/>
            <a:ext cx="9388499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Description Here</a:t>
            </a:r>
          </a:p>
        </p:txBody>
      </p:sp>
    </p:spTree>
    <p:extLst>
      <p:ext uri="{BB962C8B-B14F-4D97-AF65-F5344CB8AC3E}">
        <p14:creationId xmlns:p14="http://schemas.microsoft.com/office/powerpoint/2010/main" val="2119471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4D42A7-FF15-4C9E-9657-33DD5BC539D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FA555C0-B108-4047-8AFF-82E05F0734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EAA7C-AE70-48A8-B582-013424EB9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740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8D39141-3E8E-4545-90DB-291A0E5F13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chemeClr val="tx1">
              <a:lumMod val="75000"/>
              <a:lumOff val="25000"/>
            </a:schemeClr>
          </a:solidFill>
        </p:spPr>
        <p:txBody>
          <a:bodyPr lIns="0" tIns="0" rIns="612000" anchor="ctr"/>
          <a:lstStyle>
            <a:lvl1pPr marL="0" indent="0" algn="r">
              <a:lnSpc>
                <a:spcPct val="100000"/>
              </a:lnSpc>
              <a:buNone/>
              <a:defRPr sz="12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0A062-54B3-47F2-9D6A-5BC9575208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9672000" cy="6857999"/>
          </a:xfrm>
          <a:solidFill>
            <a:schemeClr val="tx2">
              <a:alpha val="70000"/>
            </a:schemeClr>
          </a:solidFill>
        </p:spPr>
        <p:txBody>
          <a:bodyPr lIns="1116000" rIns="180000" bIns="756000" anchor="ctr"/>
          <a:lstStyle>
            <a:lvl1pPr algn="l">
              <a:lnSpc>
                <a:spcPct val="65000"/>
              </a:lnSpc>
              <a:defRPr sz="88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49FD1A9-E34B-4888-90DE-493861AD75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17700" y="4508500"/>
            <a:ext cx="3314700" cy="330200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452AC72-D893-4C1A-83BD-9930164D89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17700" y="5180023"/>
            <a:ext cx="3314700" cy="205029"/>
          </a:xfrm>
          <a:ln>
            <a:noFill/>
          </a:ln>
        </p:spPr>
        <p:txBody>
          <a:bodyPr anchor="t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2EEC149-F1BE-4C36-A789-5BF73B40A2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17700" y="5683561"/>
            <a:ext cx="3314700" cy="205029"/>
          </a:xfrm>
          <a:ln>
            <a:noFill/>
          </a:ln>
        </p:spPr>
        <p:txBody>
          <a:bodyPr anchor="t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ECC256E6-6AE8-4950-838C-BE638FB479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17700" y="4821910"/>
            <a:ext cx="3314700" cy="205029"/>
          </a:xfrm>
        </p:spPr>
        <p:txBody>
          <a:bodyPr anchor="t"/>
          <a:lstStyle>
            <a:lvl1pPr marL="0" indent="0">
              <a:buNone/>
              <a:defRPr sz="1000" i="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POSITION</a:t>
            </a:r>
          </a:p>
        </p:txBody>
      </p:sp>
    </p:spTree>
    <p:extLst>
      <p:ext uri="{BB962C8B-B14F-4D97-AF65-F5344CB8AC3E}">
        <p14:creationId xmlns:p14="http://schemas.microsoft.com/office/powerpoint/2010/main" val="3185791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5246D-ECE9-473C-953D-D56C3F7B3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946F0-677D-45B4-83B9-FD3BD3FFC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1825625"/>
            <a:ext cx="10800000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5BE21-FA72-48F5-9A53-134902BF6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000" y="6192000"/>
            <a:ext cx="7560000" cy="360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79B29-5421-49A7-A511-D916B66A8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5764" y="6241764"/>
            <a:ext cx="270474" cy="270474"/>
          </a:xfrm>
          <a:prstGeom prst="ellipse">
            <a:avLst/>
          </a:prstGeom>
          <a:solidFill>
            <a:schemeClr val="accent1"/>
          </a:solidFill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7892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50" r:id="rId12"/>
    <p:sldLayoutId id="214748366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spc="-150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2"/>
        </a:buClr>
        <a:buFont typeface="Arial" panose="020B0604020202020204" pitchFamily="34" charset="0"/>
        <a:buChar char="●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476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2"/>
        </a:buClr>
        <a:buFontTx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286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1">
            <a:lumMod val="50000"/>
            <a:lumOff val="50000"/>
          </a:schemeClr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96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1">
            <a:lumMod val="75000"/>
            <a:lumOff val="25000"/>
          </a:schemeClr>
        </a:buClr>
        <a:buSzPct val="80000"/>
        <a:buFont typeface="Courier New" panose="02070309020205020404" pitchFamily="49" charset="0"/>
        <a:buChar char="o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9060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Doctor pointing on a large display">
            <a:extLst>
              <a:ext uri="{FF2B5EF4-FFF2-40B4-BE49-F238E27FC236}">
                <a16:creationId xmlns:a16="http://schemas.microsoft.com/office/drawing/2014/main" id="{8F02F647-7DBC-4618-AFF3-8CED69C5CDE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8D8E648-93B0-47FF-A306-492EFF7FC4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CAREFLOW – CLINICAL PATHWAY PROCESS MINING (final-Review)</a:t>
            </a:r>
            <a:b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 Members</a:t>
            </a:r>
            <a:br>
              <a:rPr lang="en-IN" sz="1600" dirty="0"/>
            </a:br>
            <a:r>
              <a:rPr lang="en-IN" sz="1600" dirty="0"/>
              <a:t>                                                                                                                                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Anagha  S  Pillai 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Yashaswini  N  P 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Vaishnavi  Dipak  Bhagat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4857D70-F12B-4E1B-99F8-92DAD43498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94546" y="3291840"/>
            <a:ext cx="7972242" cy="904239"/>
          </a:xfrm>
          <a:gradFill>
            <a:gsLst>
              <a:gs pos="800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/>
          <a:p>
            <a:pPr algn="ctr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Infotact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Solutions – Data Analytics Internship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7" descr="Beige rectangle">
            <a:extLst>
              <a:ext uri="{FF2B5EF4-FFF2-40B4-BE49-F238E27FC236}">
                <a16:creationId xmlns:a16="http://schemas.microsoft.com/office/drawing/2014/main" id="{C85C272F-FCB2-478D-9E03-EC734D1AB6C0}"/>
              </a:ext>
            </a:extLst>
          </p:cNvPr>
          <p:cNvSpPr/>
          <p:nvPr/>
        </p:nvSpPr>
        <p:spPr bwMode="white">
          <a:xfrm>
            <a:off x="3731336" y="2984336"/>
            <a:ext cx="7698663" cy="307504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136CB0-4ED9-43FA-81D5-6D3225795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79678" y="4602235"/>
            <a:ext cx="2885950" cy="45719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593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00F0875B-8C99-FAF1-6D0E-B092F5AA411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662" y="0"/>
            <a:ext cx="12012000" cy="6858000"/>
          </a:xfrm>
          <a:custGeom>
            <a:avLst/>
            <a:gdLst>
              <a:gd name="connsiteX0" fmla="*/ 0 w 12012000"/>
              <a:gd name="connsiteY0" fmla="*/ 0 h 6858000"/>
              <a:gd name="connsiteX1" fmla="*/ 8592000 w 12012000"/>
              <a:gd name="connsiteY1" fmla="*/ 0 h 6858000"/>
              <a:gd name="connsiteX2" fmla="*/ 8592000 w 12012000"/>
              <a:gd name="connsiteY2" fmla="*/ 180000 h 6858000"/>
              <a:gd name="connsiteX3" fmla="*/ 12012000 w 12012000"/>
              <a:gd name="connsiteY3" fmla="*/ 180000 h 6858000"/>
              <a:gd name="connsiteX4" fmla="*/ 12012000 w 12012000"/>
              <a:gd name="connsiteY4" fmla="*/ 6678000 h 6858000"/>
              <a:gd name="connsiteX5" fmla="*/ 8592000 w 12012000"/>
              <a:gd name="connsiteY5" fmla="*/ 6678000 h 6858000"/>
              <a:gd name="connsiteX6" fmla="*/ 8592000 w 12012000"/>
              <a:gd name="connsiteY6" fmla="*/ 6858000 h 6858000"/>
              <a:gd name="connsiteX7" fmla="*/ 0 w 1201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012000" h="6858000">
                <a:moveTo>
                  <a:pt x="0" y="0"/>
                </a:moveTo>
                <a:lnTo>
                  <a:pt x="8592000" y="0"/>
                </a:lnTo>
                <a:lnTo>
                  <a:pt x="8592000" y="180000"/>
                </a:lnTo>
                <a:lnTo>
                  <a:pt x="12012000" y="180000"/>
                </a:lnTo>
                <a:lnTo>
                  <a:pt x="12012000" y="6678000"/>
                </a:lnTo>
                <a:lnTo>
                  <a:pt x="8592000" y="6678000"/>
                </a:lnTo>
                <a:lnTo>
                  <a:pt x="8592000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D509E5E-F68C-4F2B-8EC7-432595860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69877" y="0"/>
            <a:ext cx="6058185" cy="6858000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F7E39F-041F-4A45-A1CF-F8C269887D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7343" y="203200"/>
            <a:ext cx="6903253" cy="6431280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/>
          <a:p>
            <a:pPr algn="just"/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CareFlow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end-to-end healthcare process analytics and process-mining project built to understand patient journeys through hospital workflows using timestamped event logs.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dashboards provide aggregated KPIs such as patient counts and waiting times, but process mining helps reveal the actual sequence of activities, repeated steps, loop-backs and deviations experienced by patients.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project combines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Pandas, PM4Py,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dbt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Power BI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discover workflows, identify process deviations, validate results and present process insights.</a:t>
            </a:r>
          </a:p>
          <a:p>
            <a:endParaRPr lang="en-US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BE4A06-2673-41EF-AF84-96B0EDEC0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294" y="606318"/>
            <a:ext cx="5468825" cy="1131031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9" name="object 7" descr="Beige rectangle">
            <a:extLst>
              <a:ext uri="{FF2B5EF4-FFF2-40B4-BE49-F238E27FC236}">
                <a16:creationId xmlns:a16="http://schemas.microsoft.com/office/drawing/2014/main" id="{400AB11A-4D5E-4CDE-BB60-C8578F59C3E0}"/>
              </a:ext>
            </a:extLst>
          </p:cNvPr>
          <p:cNvSpPr/>
          <p:nvPr/>
        </p:nvSpPr>
        <p:spPr bwMode="white">
          <a:xfrm>
            <a:off x="2476294" y="1342117"/>
            <a:ext cx="4104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pSp>
        <p:nvGrpSpPr>
          <p:cNvPr id="36" name="Group 35" descr="Icon Lightbulb">
            <a:extLst>
              <a:ext uri="{FF2B5EF4-FFF2-40B4-BE49-F238E27FC236}">
                <a16:creationId xmlns:a16="http://schemas.microsoft.com/office/drawing/2014/main" id="{840CA54E-FBB9-4848-A45D-E086AA4A5012}"/>
              </a:ext>
            </a:extLst>
          </p:cNvPr>
          <p:cNvGrpSpPr>
            <a:grpSpLocks noChangeAspect="1"/>
          </p:cNvGrpSpPr>
          <p:nvPr/>
        </p:nvGrpSpPr>
        <p:grpSpPr>
          <a:xfrm>
            <a:off x="1610788" y="868711"/>
            <a:ext cx="362014" cy="584795"/>
            <a:chOff x="1684746" y="3186732"/>
            <a:chExt cx="530027" cy="856197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8ABB65B-B8A5-4C0E-BE4C-E88A7BB3E8A2}"/>
                </a:ext>
              </a:extLst>
            </p:cNvPr>
            <p:cNvSpPr/>
            <p:nvPr/>
          </p:nvSpPr>
          <p:spPr>
            <a:xfrm>
              <a:off x="1817251" y="3777916"/>
              <a:ext cx="265014" cy="61158"/>
            </a:xfrm>
            <a:custGeom>
              <a:avLst/>
              <a:gdLst>
                <a:gd name="connsiteX0" fmla="*/ 30578 w 265013"/>
                <a:gd name="connsiteY0" fmla="*/ 0 h 61156"/>
                <a:gd name="connsiteX1" fmla="*/ 234435 w 265013"/>
                <a:gd name="connsiteY1" fmla="*/ 0 h 61156"/>
                <a:gd name="connsiteX2" fmla="*/ 265013 w 265013"/>
                <a:gd name="connsiteY2" fmla="*/ 30578 h 61156"/>
                <a:gd name="connsiteX3" fmla="*/ 234435 w 265013"/>
                <a:gd name="connsiteY3" fmla="*/ 61157 h 61156"/>
                <a:gd name="connsiteX4" fmla="*/ 30578 w 265013"/>
                <a:gd name="connsiteY4" fmla="*/ 61157 h 61156"/>
                <a:gd name="connsiteX5" fmla="*/ 0 w 265013"/>
                <a:gd name="connsiteY5" fmla="*/ 30578 h 61156"/>
                <a:gd name="connsiteX6" fmla="*/ 30578 w 265013"/>
                <a:gd name="connsiteY6" fmla="*/ 0 h 6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013" h="61156">
                  <a:moveTo>
                    <a:pt x="30578" y="0"/>
                  </a:moveTo>
                  <a:lnTo>
                    <a:pt x="234435" y="0"/>
                  </a:lnTo>
                  <a:cubicBezTo>
                    <a:pt x="251763" y="0"/>
                    <a:pt x="265013" y="13251"/>
                    <a:pt x="265013" y="30578"/>
                  </a:cubicBezTo>
                  <a:cubicBezTo>
                    <a:pt x="265013" y="47906"/>
                    <a:pt x="251763" y="61157"/>
                    <a:pt x="234435" y="61157"/>
                  </a:cubicBezTo>
                  <a:lnTo>
                    <a:pt x="30578" y="61157"/>
                  </a:lnTo>
                  <a:cubicBezTo>
                    <a:pt x="13251" y="61157"/>
                    <a:pt x="0" y="47906"/>
                    <a:pt x="0" y="30578"/>
                  </a:cubicBezTo>
                  <a:cubicBezTo>
                    <a:pt x="0" y="13251"/>
                    <a:pt x="13251" y="0"/>
                    <a:pt x="30578" y="0"/>
                  </a:cubicBezTo>
                  <a:close/>
                </a:path>
              </a:pathLst>
            </a:custGeom>
            <a:solidFill>
              <a:schemeClr val="accent1"/>
            </a:solidFill>
            <a:ln w="101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71DD07A-CE80-41D5-AEEB-65192AD34639}"/>
                </a:ext>
              </a:extLst>
            </p:cNvPr>
            <p:cNvSpPr/>
            <p:nvPr/>
          </p:nvSpPr>
          <p:spPr>
            <a:xfrm>
              <a:off x="1817252" y="3879845"/>
              <a:ext cx="265014" cy="61158"/>
            </a:xfrm>
            <a:custGeom>
              <a:avLst/>
              <a:gdLst>
                <a:gd name="connsiteX0" fmla="*/ 30578 w 265013"/>
                <a:gd name="connsiteY0" fmla="*/ 0 h 61156"/>
                <a:gd name="connsiteX1" fmla="*/ 234435 w 265013"/>
                <a:gd name="connsiteY1" fmla="*/ 0 h 61156"/>
                <a:gd name="connsiteX2" fmla="*/ 265013 w 265013"/>
                <a:gd name="connsiteY2" fmla="*/ 30578 h 61156"/>
                <a:gd name="connsiteX3" fmla="*/ 234435 w 265013"/>
                <a:gd name="connsiteY3" fmla="*/ 61157 h 61156"/>
                <a:gd name="connsiteX4" fmla="*/ 30578 w 265013"/>
                <a:gd name="connsiteY4" fmla="*/ 61157 h 61156"/>
                <a:gd name="connsiteX5" fmla="*/ 0 w 265013"/>
                <a:gd name="connsiteY5" fmla="*/ 30578 h 61156"/>
                <a:gd name="connsiteX6" fmla="*/ 30578 w 265013"/>
                <a:gd name="connsiteY6" fmla="*/ 0 h 6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013" h="61156">
                  <a:moveTo>
                    <a:pt x="30578" y="0"/>
                  </a:moveTo>
                  <a:lnTo>
                    <a:pt x="234435" y="0"/>
                  </a:lnTo>
                  <a:cubicBezTo>
                    <a:pt x="251763" y="0"/>
                    <a:pt x="265013" y="13251"/>
                    <a:pt x="265013" y="30578"/>
                  </a:cubicBezTo>
                  <a:cubicBezTo>
                    <a:pt x="265013" y="47906"/>
                    <a:pt x="251763" y="61157"/>
                    <a:pt x="234435" y="61157"/>
                  </a:cubicBezTo>
                  <a:lnTo>
                    <a:pt x="30578" y="61157"/>
                  </a:lnTo>
                  <a:cubicBezTo>
                    <a:pt x="13251" y="61157"/>
                    <a:pt x="0" y="47906"/>
                    <a:pt x="0" y="30578"/>
                  </a:cubicBezTo>
                  <a:cubicBezTo>
                    <a:pt x="0" y="13251"/>
                    <a:pt x="13251" y="0"/>
                    <a:pt x="30578" y="0"/>
                  </a:cubicBezTo>
                  <a:close/>
                </a:path>
              </a:pathLst>
            </a:custGeom>
            <a:solidFill>
              <a:schemeClr val="accent1"/>
            </a:solidFill>
            <a:ln w="101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522D638-DE3D-438D-8C73-954C32D8CB63}"/>
                </a:ext>
              </a:extLst>
            </p:cNvPr>
            <p:cNvSpPr/>
            <p:nvPr/>
          </p:nvSpPr>
          <p:spPr>
            <a:xfrm>
              <a:off x="1883502" y="3981772"/>
              <a:ext cx="132507" cy="61157"/>
            </a:xfrm>
            <a:custGeom>
              <a:avLst/>
              <a:gdLst>
                <a:gd name="connsiteX0" fmla="*/ 0 w 132506"/>
                <a:gd name="connsiteY0" fmla="*/ 0 h 61156"/>
                <a:gd name="connsiteX1" fmla="*/ 66253 w 132506"/>
                <a:gd name="connsiteY1" fmla="*/ 61157 h 61156"/>
                <a:gd name="connsiteX2" fmla="*/ 132507 w 132506"/>
                <a:gd name="connsiteY2" fmla="*/ 0 h 61156"/>
                <a:gd name="connsiteX3" fmla="*/ 0 w 132506"/>
                <a:gd name="connsiteY3" fmla="*/ 0 h 6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506" h="61156">
                  <a:moveTo>
                    <a:pt x="0" y="0"/>
                  </a:moveTo>
                  <a:cubicBezTo>
                    <a:pt x="3058" y="34656"/>
                    <a:pt x="31598" y="61157"/>
                    <a:pt x="66253" y="61157"/>
                  </a:cubicBezTo>
                  <a:cubicBezTo>
                    <a:pt x="100909" y="61157"/>
                    <a:pt x="129449" y="34656"/>
                    <a:pt x="13250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01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1AB190E-B14D-440E-9910-B22D8C998B54}"/>
                </a:ext>
              </a:extLst>
            </p:cNvPr>
            <p:cNvSpPr/>
            <p:nvPr/>
          </p:nvSpPr>
          <p:spPr>
            <a:xfrm>
              <a:off x="1684746" y="3186732"/>
              <a:ext cx="530027" cy="550411"/>
            </a:xfrm>
            <a:custGeom>
              <a:avLst/>
              <a:gdLst>
                <a:gd name="connsiteX0" fmla="*/ 265013 w 530026"/>
                <a:gd name="connsiteY0" fmla="*/ 0 h 550412"/>
                <a:gd name="connsiteX1" fmla="*/ 265013 w 530026"/>
                <a:gd name="connsiteY1" fmla="*/ 0 h 550412"/>
                <a:gd name="connsiteX2" fmla="*/ 265013 w 530026"/>
                <a:gd name="connsiteY2" fmla="*/ 0 h 550412"/>
                <a:gd name="connsiteX3" fmla="*/ 0 w 530026"/>
                <a:gd name="connsiteY3" fmla="*/ 261956 h 550412"/>
                <a:gd name="connsiteX4" fmla="*/ 0 w 530026"/>
                <a:gd name="connsiteY4" fmla="*/ 271129 h 550412"/>
                <a:gd name="connsiteX5" fmla="*/ 18347 w 530026"/>
                <a:gd name="connsiteY5" fmla="*/ 362864 h 550412"/>
                <a:gd name="connsiteX6" fmla="*/ 64215 w 530026"/>
                <a:gd name="connsiteY6" fmla="*/ 438291 h 550412"/>
                <a:gd name="connsiteX7" fmla="*/ 126391 w 530026"/>
                <a:gd name="connsiteY7" fmla="*/ 539200 h 550412"/>
                <a:gd name="connsiteX8" fmla="*/ 144738 w 530026"/>
                <a:gd name="connsiteY8" fmla="*/ 550412 h 550412"/>
                <a:gd name="connsiteX9" fmla="*/ 385289 w 530026"/>
                <a:gd name="connsiteY9" fmla="*/ 550412 h 550412"/>
                <a:gd name="connsiteX10" fmla="*/ 403636 w 530026"/>
                <a:gd name="connsiteY10" fmla="*/ 539200 h 550412"/>
                <a:gd name="connsiteX11" fmla="*/ 465812 w 530026"/>
                <a:gd name="connsiteY11" fmla="*/ 438291 h 550412"/>
                <a:gd name="connsiteX12" fmla="*/ 511680 w 530026"/>
                <a:gd name="connsiteY12" fmla="*/ 362864 h 550412"/>
                <a:gd name="connsiteX13" fmla="*/ 530027 w 530026"/>
                <a:gd name="connsiteY13" fmla="*/ 271129 h 550412"/>
                <a:gd name="connsiteX14" fmla="*/ 530027 w 530026"/>
                <a:gd name="connsiteY14" fmla="*/ 261956 h 550412"/>
                <a:gd name="connsiteX15" fmla="*/ 265013 w 530026"/>
                <a:gd name="connsiteY15" fmla="*/ 0 h 550412"/>
                <a:gd name="connsiteX16" fmla="*/ 468870 w 530026"/>
                <a:gd name="connsiteY16" fmla="*/ 270110 h 550412"/>
                <a:gd name="connsiteX17" fmla="*/ 454600 w 530026"/>
                <a:gd name="connsiteY17" fmla="*/ 341460 h 550412"/>
                <a:gd name="connsiteX18" fmla="*/ 419944 w 530026"/>
                <a:gd name="connsiteY18" fmla="*/ 397520 h 550412"/>
                <a:gd name="connsiteX19" fmla="*/ 360826 w 530026"/>
                <a:gd name="connsiteY19" fmla="*/ 489256 h 550412"/>
                <a:gd name="connsiteX20" fmla="*/ 265013 w 530026"/>
                <a:gd name="connsiteY20" fmla="*/ 489256 h 550412"/>
                <a:gd name="connsiteX21" fmla="*/ 170220 w 530026"/>
                <a:gd name="connsiteY21" fmla="*/ 489256 h 550412"/>
                <a:gd name="connsiteX22" fmla="*/ 111102 w 530026"/>
                <a:gd name="connsiteY22" fmla="*/ 397520 h 550412"/>
                <a:gd name="connsiteX23" fmla="*/ 76446 w 530026"/>
                <a:gd name="connsiteY23" fmla="*/ 341460 h 550412"/>
                <a:gd name="connsiteX24" fmla="*/ 62176 w 530026"/>
                <a:gd name="connsiteY24" fmla="*/ 270110 h 550412"/>
                <a:gd name="connsiteX25" fmla="*/ 62176 w 530026"/>
                <a:gd name="connsiteY25" fmla="*/ 261956 h 550412"/>
                <a:gd name="connsiteX26" fmla="*/ 266033 w 530026"/>
                <a:gd name="connsiteY26" fmla="*/ 60138 h 550412"/>
                <a:gd name="connsiteX27" fmla="*/ 266033 w 530026"/>
                <a:gd name="connsiteY27" fmla="*/ 60138 h 550412"/>
                <a:gd name="connsiteX28" fmla="*/ 266033 w 530026"/>
                <a:gd name="connsiteY28" fmla="*/ 60138 h 550412"/>
                <a:gd name="connsiteX29" fmla="*/ 266033 w 530026"/>
                <a:gd name="connsiteY29" fmla="*/ 60138 h 550412"/>
                <a:gd name="connsiteX30" fmla="*/ 266033 w 530026"/>
                <a:gd name="connsiteY30" fmla="*/ 60138 h 550412"/>
                <a:gd name="connsiteX31" fmla="*/ 266033 w 530026"/>
                <a:gd name="connsiteY31" fmla="*/ 60138 h 550412"/>
                <a:gd name="connsiteX32" fmla="*/ 266033 w 530026"/>
                <a:gd name="connsiteY32" fmla="*/ 60138 h 550412"/>
                <a:gd name="connsiteX33" fmla="*/ 469889 w 530026"/>
                <a:gd name="connsiteY33" fmla="*/ 261956 h 550412"/>
                <a:gd name="connsiteX34" fmla="*/ 469889 w 530026"/>
                <a:gd name="connsiteY34" fmla="*/ 270110 h 550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30026" h="550412">
                  <a:moveTo>
                    <a:pt x="265013" y="0"/>
                  </a:moveTo>
                  <a:cubicBezTo>
                    <a:pt x="265013" y="0"/>
                    <a:pt x="265013" y="0"/>
                    <a:pt x="265013" y="0"/>
                  </a:cubicBezTo>
                  <a:cubicBezTo>
                    <a:pt x="265013" y="0"/>
                    <a:pt x="265013" y="0"/>
                    <a:pt x="265013" y="0"/>
                  </a:cubicBezTo>
                  <a:cubicBezTo>
                    <a:pt x="120275" y="1019"/>
                    <a:pt x="3058" y="117217"/>
                    <a:pt x="0" y="261956"/>
                  </a:cubicBezTo>
                  <a:lnTo>
                    <a:pt x="0" y="271129"/>
                  </a:lnTo>
                  <a:cubicBezTo>
                    <a:pt x="1019" y="302727"/>
                    <a:pt x="7135" y="333305"/>
                    <a:pt x="18347" y="362864"/>
                  </a:cubicBezTo>
                  <a:cubicBezTo>
                    <a:pt x="29559" y="390385"/>
                    <a:pt x="44848" y="415867"/>
                    <a:pt x="64215" y="438291"/>
                  </a:cubicBezTo>
                  <a:cubicBezTo>
                    <a:pt x="88678" y="464793"/>
                    <a:pt x="115179" y="516776"/>
                    <a:pt x="126391" y="539200"/>
                  </a:cubicBezTo>
                  <a:cubicBezTo>
                    <a:pt x="129449" y="546335"/>
                    <a:pt x="136584" y="550412"/>
                    <a:pt x="144738" y="550412"/>
                  </a:cubicBezTo>
                  <a:lnTo>
                    <a:pt x="385289" y="550412"/>
                  </a:lnTo>
                  <a:cubicBezTo>
                    <a:pt x="393443" y="550412"/>
                    <a:pt x="400578" y="546335"/>
                    <a:pt x="403636" y="539200"/>
                  </a:cubicBezTo>
                  <a:cubicBezTo>
                    <a:pt x="414848" y="516776"/>
                    <a:pt x="441349" y="464793"/>
                    <a:pt x="465812" y="438291"/>
                  </a:cubicBezTo>
                  <a:cubicBezTo>
                    <a:pt x="485178" y="415867"/>
                    <a:pt x="501487" y="390385"/>
                    <a:pt x="511680" y="362864"/>
                  </a:cubicBezTo>
                  <a:cubicBezTo>
                    <a:pt x="522892" y="333305"/>
                    <a:pt x="529008" y="302727"/>
                    <a:pt x="530027" y="271129"/>
                  </a:cubicBezTo>
                  <a:lnTo>
                    <a:pt x="530027" y="261956"/>
                  </a:lnTo>
                  <a:cubicBezTo>
                    <a:pt x="526969" y="117217"/>
                    <a:pt x="409752" y="1019"/>
                    <a:pt x="265013" y="0"/>
                  </a:cubicBezTo>
                  <a:close/>
                  <a:moveTo>
                    <a:pt x="468870" y="270110"/>
                  </a:moveTo>
                  <a:cubicBezTo>
                    <a:pt x="467851" y="294573"/>
                    <a:pt x="462754" y="319035"/>
                    <a:pt x="454600" y="341460"/>
                  </a:cubicBezTo>
                  <a:cubicBezTo>
                    <a:pt x="446446" y="361845"/>
                    <a:pt x="435234" y="381212"/>
                    <a:pt x="419944" y="397520"/>
                  </a:cubicBezTo>
                  <a:cubicBezTo>
                    <a:pt x="396501" y="426060"/>
                    <a:pt x="376115" y="456638"/>
                    <a:pt x="360826" y="489256"/>
                  </a:cubicBezTo>
                  <a:lnTo>
                    <a:pt x="265013" y="489256"/>
                  </a:lnTo>
                  <a:lnTo>
                    <a:pt x="170220" y="489256"/>
                  </a:lnTo>
                  <a:cubicBezTo>
                    <a:pt x="153912" y="456638"/>
                    <a:pt x="133526" y="426060"/>
                    <a:pt x="111102" y="397520"/>
                  </a:cubicBezTo>
                  <a:cubicBezTo>
                    <a:pt x="96832" y="381212"/>
                    <a:pt x="84600" y="361845"/>
                    <a:pt x="76446" y="341460"/>
                  </a:cubicBezTo>
                  <a:cubicBezTo>
                    <a:pt x="67273" y="319035"/>
                    <a:pt x="63196" y="294573"/>
                    <a:pt x="62176" y="270110"/>
                  </a:cubicBezTo>
                  <a:lnTo>
                    <a:pt x="62176" y="261956"/>
                  </a:lnTo>
                  <a:cubicBezTo>
                    <a:pt x="64215" y="150854"/>
                    <a:pt x="154931" y="61157"/>
                    <a:pt x="266033" y="60138"/>
                  </a:cubicBezTo>
                  <a:lnTo>
                    <a:pt x="266033" y="60138"/>
                  </a:lnTo>
                  <a:lnTo>
                    <a:pt x="266033" y="60138"/>
                  </a:lnTo>
                  <a:cubicBezTo>
                    <a:pt x="266033" y="60138"/>
                    <a:pt x="266033" y="60138"/>
                    <a:pt x="266033" y="60138"/>
                  </a:cubicBezTo>
                  <a:cubicBezTo>
                    <a:pt x="266033" y="60138"/>
                    <a:pt x="266033" y="60138"/>
                    <a:pt x="266033" y="60138"/>
                  </a:cubicBezTo>
                  <a:lnTo>
                    <a:pt x="266033" y="60138"/>
                  </a:lnTo>
                  <a:lnTo>
                    <a:pt x="266033" y="60138"/>
                  </a:lnTo>
                  <a:cubicBezTo>
                    <a:pt x="377134" y="61157"/>
                    <a:pt x="467851" y="149835"/>
                    <a:pt x="469889" y="261956"/>
                  </a:cubicBezTo>
                  <a:lnTo>
                    <a:pt x="469889" y="270110"/>
                  </a:lnTo>
                  <a:close/>
                </a:path>
              </a:pathLst>
            </a:custGeom>
            <a:solidFill>
              <a:schemeClr val="accent1"/>
            </a:solidFill>
            <a:ln w="101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C3FC51DE-D10A-4DE8-A7E3-22FA2E4FC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69877" y="5904087"/>
            <a:ext cx="6058183" cy="45719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947A81F6-261F-44F4-B660-7BD323AE29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CDC0198-E919-4071-9C4B-5B3D19A46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338586" y="707900"/>
            <a:ext cx="906418" cy="906419"/>
            <a:chOff x="4986774" y="-1692865"/>
            <a:chExt cx="1200866" cy="120086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67DDF34-4085-4945-A320-585AC8EBAAF2}"/>
                </a:ext>
              </a:extLst>
            </p:cNvPr>
            <p:cNvSpPr/>
            <p:nvPr/>
          </p:nvSpPr>
          <p:spPr>
            <a:xfrm>
              <a:off x="5090981" y="-1587459"/>
              <a:ext cx="992451" cy="992450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D521D40-9109-4214-B458-FAB53B1DA80D}"/>
                </a:ext>
              </a:extLst>
            </p:cNvPr>
            <p:cNvSpPr/>
            <p:nvPr/>
          </p:nvSpPr>
          <p:spPr>
            <a:xfrm>
              <a:off x="4986774" y="-1692865"/>
              <a:ext cx="1200866" cy="1200866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85162C2-E12D-D81E-DF12-A20291991C15}"/>
              </a:ext>
            </a:extLst>
          </p:cNvPr>
          <p:cNvSpPr txBox="1"/>
          <p:nvPr/>
        </p:nvSpPr>
        <p:spPr>
          <a:xfrm>
            <a:off x="5638800" y="29210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3203464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735F52A1-34F9-9C0E-046D-09E6DE43DEA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prstClr val="black">
              <a:lumMod val="75000"/>
              <a:lumOff val="25000"/>
            </a:prstClr>
          </a:solidFill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3CBC84C2-2B48-4B15-A420-8B5F2BDE2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000" y="179109"/>
            <a:ext cx="11832000" cy="6513922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4E91A8-F608-453C-810A-BE9918180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412" y="374167"/>
            <a:ext cx="11174826" cy="846137"/>
          </a:xfrm>
        </p:spPr>
        <p:txBody>
          <a:bodyPr/>
          <a:lstStyle/>
          <a:p>
            <a:r>
              <a:rPr lang="en-US" dirty="0"/>
              <a:t>      Problem statement  and  project objectives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B898379A-942F-47A5-80B4-B1C6F09FCB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* According to a Survey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DB908-45C5-4999-982F-0A82DA013F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9" name="object 7" descr="Beige rectangle">
            <a:extLst>
              <a:ext uri="{FF2B5EF4-FFF2-40B4-BE49-F238E27FC236}">
                <a16:creationId xmlns:a16="http://schemas.microsoft.com/office/drawing/2014/main" id="{9B6BE182-7444-49DA-B6FA-215DD68D50CA}"/>
              </a:ext>
            </a:extLst>
          </p:cNvPr>
          <p:cNvSpPr/>
          <p:nvPr/>
        </p:nvSpPr>
        <p:spPr bwMode="white">
          <a:xfrm>
            <a:off x="3797199" y="926547"/>
            <a:ext cx="4104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9784603-2F8F-493A-894B-9ECFC3587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89478" y="6218904"/>
            <a:ext cx="1629044" cy="45719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221EC26-FB68-3A74-62FA-882146729A99}"/>
              </a:ext>
            </a:extLst>
          </p:cNvPr>
          <p:cNvSpPr txBox="1"/>
          <p:nvPr/>
        </p:nvSpPr>
        <p:spPr>
          <a:xfrm>
            <a:off x="853440" y="1305495"/>
            <a:ext cx="442803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/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 workflows involve multiple activities, but traditional dashboards mainly show numerical KPIs and may not reveal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patients actually move through the process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Patients may experience: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Repeated activities &amp; loop-backs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activity sequences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Waiting-time delays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Deviations from the expected workflow</a:t>
            </a:r>
          </a:p>
          <a:p>
            <a:pPr lvl="0" algn="just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algn="just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Triage → X-Ray → Triage</a:t>
            </a:r>
          </a:p>
          <a:p>
            <a:pPr algn="just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repeated activity indicates a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process inefficiency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requiring investigation.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43F10E3-6811-067B-FB9F-543AD5F9C9AE}"/>
              </a:ext>
            </a:extLst>
          </p:cNvPr>
          <p:cNvSpPr txBox="1"/>
          <p:nvPr/>
        </p:nvSpPr>
        <p:spPr>
          <a:xfrm>
            <a:off x="6807200" y="1381760"/>
            <a:ext cx="466344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pPr algn="just"/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clean timestamped patient event data.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Discover actual patient workflows using PM4Py.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bottlenecks, loops and waiting times.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DFG and Petri Net process models.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conformance checking.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Investigate a simulated root-cause hypothesis.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and validate analytics using </a:t>
            </a:r>
            <a:r>
              <a:rPr lang="en-IN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dbt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 findings through Power BI.</a:t>
            </a:r>
          </a:p>
          <a:p>
            <a:pPr algn="just"/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69161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A587F9-A1BC-C783-97E5-54F9122CCD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0214B4-41D7-B399-531C-937E03CFD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40" y="1397466"/>
            <a:ext cx="7560000" cy="370166"/>
          </a:xfrm>
        </p:spPr>
        <p:txBody>
          <a:bodyPr/>
          <a:lstStyle/>
          <a:p>
            <a:r>
              <a:rPr lang="en-IN" dirty="0"/>
              <a:t>Project  </a:t>
            </a:r>
            <a:br>
              <a:rPr lang="en-IN" dirty="0"/>
            </a:br>
            <a:r>
              <a:rPr lang="en-IN" dirty="0"/>
              <a:t> Workflow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A8712B-9321-D1D6-13CF-3DC15E58BAC5}"/>
              </a:ext>
            </a:extLst>
          </p:cNvPr>
          <p:cNvSpPr txBox="1"/>
          <p:nvPr/>
        </p:nvSpPr>
        <p:spPr>
          <a:xfrm>
            <a:off x="3048000" y="144579"/>
            <a:ext cx="6096000" cy="7232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Event Data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 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Generation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Cleaning 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 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 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&amp; Waiting-Time Analysis 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 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PM4Py Process Discovery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DFG + Petri Net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Conformance Checking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Root-Cause Investigation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dbt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Analytics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Cross-Validation 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BI Dashboard 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Patient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Drillthrough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Final Process Insights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ctr"/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45C3F5F8-C830-1DA8-2BA1-0F2B2F8D2C2F}"/>
              </a:ext>
            </a:extLst>
          </p:cNvPr>
          <p:cNvCxnSpPr>
            <a:cxnSpLocks/>
          </p:cNvCxnSpPr>
          <p:nvPr/>
        </p:nvCxnSpPr>
        <p:spPr>
          <a:xfrm>
            <a:off x="2011680" y="2387600"/>
            <a:ext cx="2336385" cy="11393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B04A9BD-B174-D701-5303-69F4896EF2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22" y="214604"/>
            <a:ext cx="11812556" cy="649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544437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C620BC-F244-5A59-19E5-F01EA9BCC3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578BB87-8F5F-A1F9-7701-DE0FEC01E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568" y="336807"/>
            <a:ext cx="7560000" cy="370166"/>
          </a:xfrm>
        </p:spPr>
        <p:txBody>
          <a:bodyPr/>
          <a:lstStyle/>
          <a:p>
            <a:pPr algn="ctr"/>
            <a:r>
              <a:rPr lang="en-IN" dirty="0"/>
              <a:t>Weekly Progress Updates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C82A3E-05E9-2C1A-B673-B5F80AFB85F1}"/>
              </a:ext>
            </a:extLst>
          </p:cNvPr>
          <p:cNvSpPr txBox="1"/>
          <p:nvPr/>
        </p:nvSpPr>
        <p:spPr>
          <a:xfrm>
            <a:off x="655282" y="843761"/>
            <a:ext cx="522436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 – Data Preparation &amp; Initial Analysis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up repository, documentation and project workflow.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and cleaned hospital event data using Python &amp; Pandas.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EDA, waiting-time and bottleneck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PM4Py for process mining.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2 – Process Mining &amp; Mid Review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DFG, Petri Net and conformance analysis using PM4Py.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the initial Power BI dashboard and DAX measures.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process-mining results and refined dashboard visuals.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Mid-Review report and presentation</a:t>
            </a:r>
            <a:r>
              <a:rPr lang="en-IN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D29B9B-E594-B307-5DAC-0531EB167603}"/>
              </a:ext>
            </a:extLst>
          </p:cNvPr>
          <p:cNvSpPr txBox="1"/>
          <p:nvPr/>
        </p:nvSpPr>
        <p:spPr>
          <a:xfrm>
            <a:off x="6096000" y="827762"/>
            <a:ext cx="544071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3 – Analysis &amp; Dashboard Refinement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 conformance and process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Refined Power BI dashboard based on review feedback.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consistency across process maps, metrics and dashboard results.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Mid-Review presentation and final-phase documentation.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4 – Data Engineering &amp; Final Integration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Raw → Staging → Analytics pipeline.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analytics models and passed 15/15 data-quality tests.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200 patients / 878 events and final conformance results.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Power BI with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implemented patient-level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Drillthrough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the Final Review documentation and README files.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CE9782-44F0-828C-AA87-FDBF65815C6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48" y="167951"/>
            <a:ext cx="11765903" cy="652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9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FEDC06-7579-E41C-0C48-2FA6B18CC9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5013" y="836683"/>
            <a:ext cx="7559675" cy="360000"/>
          </a:xfrm>
        </p:spPr>
        <p:txBody>
          <a:bodyPr/>
          <a:lstStyle/>
          <a:p>
            <a:r>
              <a:rPr lang="en-IN" dirty="0"/>
              <a:t>Technologies Used in </a:t>
            </a:r>
            <a:r>
              <a:rPr lang="en-IN" dirty="0" err="1"/>
              <a:t>CareFlow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B6D0F7-B78E-70D3-99C6-E1D10B3E13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A760CD-06FF-9E09-A55E-924A1AC28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320" y="249386"/>
            <a:ext cx="7560000" cy="370166"/>
          </a:xfrm>
        </p:spPr>
        <p:txBody>
          <a:bodyPr/>
          <a:lstStyle/>
          <a:p>
            <a:pPr algn="ctr"/>
            <a:r>
              <a:rPr lang="en-IN" dirty="0"/>
              <a:t>Technology  Stack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BE5DBE4-1D8D-15C0-E715-1C0260D58C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205247"/>
              </p:ext>
            </p:extLst>
          </p:nvPr>
        </p:nvGraphicFramePr>
        <p:xfrm>
          <a:off x="1844868" y="1604864"/>
          <a:ext cx="8512112" cy="43387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256056">
                  <a:extLst>
                    <a:ext uri="{9D8B030D-6E8A-4147-A177-3AD203B41FA5}">
                      <a16:colId xmlns:a16="http://schemas.microsoft.com/office/drawing/2014/main" val="2185461746"/>
                    </a:ext>
                  </a:extLst>
                </a:gridCol>
                <a:gridCol w="4256056">
                  <a:extLst>
                    <a:ext uri="{9D8B030D-6E8A-4147-A177-3AD203B41FA5}">
                      <a16:colId xmlns:a16="http://schemas.microsoft.com/office/drawing/2014/main" val="100385653"/>
                    </a:ext>
                  </a:extLst>
                </a:gridCol>
              </a:tblGrid>
              <a:tr h="433874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5506410"/>
                  </a:ext>
                </a:extLst>
              </a:tr>
              <a:tr h="433874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🐍 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 generation and 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288753"/>
                  </a:ext>
                </a:extLst>
              </a:tr>
              <a:tr h="433874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🐼 Pandas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cleaning and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553618"/>
                  </a:ext>
                </a:extLst>
              </a:tr>
              <a:tr h="433874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📊 Matplotlib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EDA visualization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01704"/>
                  </a:ext>
                </a:extLst>
              </a:tr>
              <a:tr h="433874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🔬 PM4Py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 discovery and conformance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2234386"/>
                  </a:ext>
                </a:extLst>
              </a:tr>
              <a:tr h="433874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🔗 </a:t>
                      </a:r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Graphviz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Process-map visualization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984364"/>
                  </a:ext>
                </a:extLst>
              </a:tr>
              <a:tr h="433874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☁️ </a:t>
                      </a:r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BigQuery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Event-data storage and analytics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852465"/>
                  </a:ext>
                </a:extLst>
              </a:tr>
              <a:tr h="433874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🧱 </a:t>
                      </a:r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dbt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transformation and quality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6816979"/>
                  </a:ext>
                </a:extLst>
              </a:tr>
              <a:tr h="433874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📈 Power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Interactive dashboard and </a:t>
                      </a:r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drillthrough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697632"/>
                  </a:ext>
                </a:extLst>
              </a:tr>
              <a:tr h="433874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🌐 Git &amp; 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 control and collaboration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58774"/>
                  </a:ext>
                </a:extLst>
              </a:tr>
            </a:tbl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7FF136F8-E7F9-86DF-9ECD-3B9F2BE2CE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18" y="167951"/>
            <a:ext cx="11784563" cy="6440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55537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CEF3D9D2-BDD2-0E66-8A1F-0695ECF9E84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prstClr val="black">
              <a:lumMod val="75000"/>
              <a:lumOff val="25000"/>
            </a:prstClr>
          </a:solidFill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0524CCA-F35C-4EE5-C2E8-D585A1C92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4240" y="432376"/>
            <a:ext cx="7560000" cy="360000"/>
          </a:xfrm>
        </p:spPr>
        <p:txBody>
          <a:bodyPr/>
          <a:lstStyle/>
          <a:p>
            <a:pPr algn="ctr"/>
            <a:r>
              <a:rPr lang="en-IN" dirty="0"/>
              <a:t>Data Preparation &amp; Cleaning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A2A3B-404A-CDC7-BB7A-A1875A016F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994CC3-BE88-4D3D-B448-FBFE8557E9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3893" y="1182123"/>
            <a:ext cx="7559675" cy="360000"/>
          </a:xfrm>
        </p:spPr>
        <p:txBody>
          <a:bodyPr/>
          <a:lstStyle/>
          <a:p>
            <a:r>
              <a:rPr lang="en-IN" b="1" dirty="0"/>
              <a:t>Event Log Generation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E7A8AA-5FC5-2E29-4CD3-8B25A55ABEC0}"/>
              </a:ext>
            </a:extLst>
          </p:cNvPr>
          <p:cNvSpPr txBox="1"/>
          <p:nvPr/>
        </p:nvSpPr>
        <p:spPr>
          <a:xfrm>
            <a:off x="7219945" y="1056016"/>
            <a:ext cx="27736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solidFill>
                  <a:schemeClr val="bg1"/>
                </a:solidFill>
                <a:latin typeface="+mj-lt"/>
              </a:rPr>
              <a:t>Data Cleaning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AF40BA-B7AA-A738-6102-2384409698AA}"/>
              </a:ext>
            </a:extLst>
          </p:cNvPr>
          <p:cNvSpPr txBox="1"/>
          <p:nvPr/>
        </p:nvSpPr>
        <p:spPr>
          <a:xfrm>
            <a:off x="663893" y="1668230"/>
            <a:ext cx="469042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simulated event log uses a Python-based generator.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event contains: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Case_ID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Patient process case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Activity_Name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Hospital activity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Timestamp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Activity time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includes both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paths and process loop-backs</a:t>
            </a:r>
          </a:p>
          <a:p>
            <a:pPr lvl="0"/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Path</a:t>
            </a:r>
          </a:p>
          <a:p>
            <a:pPr lvl="0"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Triage → X-Ray → Doctor Consult →Discharge</a:t>
            </a:r>
          </a:p>
          <a:p>
            <a:pPr lvl="0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Observed Loop</a:t>
            </a:r>
          </a:p>
          <a:p>
            <a:pPr lvl="0"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Triage → X-Ray → Triage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C8FC23-57E2-A910-C061-2F0F05C8DFAA}"/>
              </a:ext>
            </a:extLst>
          </p:cNvPr>
          <p:cNvSpPr txBox="1"/>
          <p:nvPr/>
        </p:nvSpPr>
        <p:spPr>
          <a:xfrm>
            <a:off x="7219945" y="1542123"/>
            <a:ext cx="430816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clean_events.py prepares the event log for EDA and PM4Py by performing: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Missing-value checking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Timestamp validation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Duplicate checking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standardization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Event-log preparation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After Cleaning</a:t>
            </a:r>
          </a:p>
          <a:p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A2902A9-3A1F-DB57-77A8-BA4620DEC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452967"/>
              </p:ext>
            </p:extLst>
          </p:nvPr>
        </p:nvGraphicFramePr>
        <p:xfrm>
          <a:off x="7219945" y="4678626"/>
          <a:ext cx="4308162" cy="1828800"/>
        </p:xfrm>
        <a:graphic>
          <a:graphicData uri="http://schemas.openxmlformats.org/drawingml/2006/table">
            <a:tbl>
              <a:tblPr/>
              <a:tblGrid>
                <a:gridCol w="2154081">
                  <a:extLst>
                    <a:ext uri="{9D8B030D-6E8A-4147-A177-3AD203B41FA5}">
                      <a16:colId xmlns:a16="http://schemas.microsoft.com/office/drawing/2014/main" val="1318682375"/>
                    </a:ext>
                  </a:extLst>
                </a:gridCol>
                <a:gridCol w="2154081">
                  <a:extLst>
                    <a:ext uri="{9D8B030D-6E8A-4147-A177-3AD203B41FA5}">
                      <a16:colId xmlns:a16="http://schemas.microsoft.com/office/drawing/2014/main" val="1442744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3802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 Cases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416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Recorded Events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019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Cleaned Events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715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Rows Removed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6830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3210505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008F657-1764-F4A0-6ED5-F53DF2E223C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5973" y="989083"/>
            <a:ext cx="7559675" cy="360000"/>
          </a:xfrm>
        </p:spPr>
        <p:txBody>
          <a:bodyPr/>
          <a:lstStyle/>
          <a:p>
            <a:r>
              <a:rPr lang="en-IN" b="1" dirty="0"/>
              <a:t>Exploratory Data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D1FD74-4DF6-DDF4-95BE-39F086E30C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9EB52F-8E7E-4C89-8D71-86AB5813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0880" y="350986"/>
            <a:ext cx="7560000" cy="370166"/>
          </a:xfrm>
        </p:spPr>
        <p:txBody>
          <a:bodyPr/>
          <a:lstStyle/>
          <a:p>
            <a:pPr algn="ctr"/>
            <a:r>
              <a:rPr lang="en-IN"/>
              <a:t>EDA &amp; Initial Findings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ED1E8F-790E-4F40-C0B2-09FF34C5C8A7}"/>
              </a:ext>
            </a:extLst>
          </p:cNvPr>
          <p:cNvSpPr txBox="1"/>
          <p:nvPr/>
        </p:nvSpPr>
        <p:spPr>
          <a:xfrm>
            <a:off x="698133" y="1267666"/>
            <a:ext cx="5472747" cy="585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was performed to understand the structure and behaviour of the hospital event log.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performed: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patients and events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distribution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events per patient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Triage activity analysis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Triage → X-Ray → Triage loop-back analysis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X-Ray → Triage waiting-time analysis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visualizations</a:t>
            </a:r>
          </a:p>
          <a:p>
            <a:pPr lvl="0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9D1CA0-B985-175F-FCD8-5523918B0F2C}"/>
              </a:ext>
            </a:extLst>
          </p:cNvPr>
          <p:cNvSpPr txBox="1"/>
          <p:nvPr/>
        </p:nvSpPr>
        <p:spPr>
          <a:xfrm>
            <a:off x="7464107" y="989083"/>
            <a:ext cx="3931920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Findings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patient cases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878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recorded events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39%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repeated Triage pattern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Triage → X-Ray → Triage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loop-back was identified as an important pattern for further bottleneck and process analysis.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1FB646-B353-E116-6ABD-9DD01F66375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82" y="207872"/>
            <a:ext cx="11803224" cy="644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23167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48ECB7CB-7561-3BA6-25C1-45EC62F6933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prstClr val="black">
              <a:lumMod val="75000"/>
              <a:lumOff val="25000"/>
            </a:prstClr>
          </a:solidFill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5D4B999-EF56-3BCD-AA92-D37D4F49C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3680" y="432376"/>
            <a:ext cx="9059440" cy="360000"/>
          </a:xfrm>
        </p:spPr>
        <p:txBody>
          <a:bodyPr/>
          <a:lstStyle/>
          <a:p>
            <a:pPr algn="ctr"/>
            <a:r>
              <a:rPr lang="en-IN" dirty="0"/>
              <a:t>Bottleneck  &amp;  Waiting-Time 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61999-ADC7-7248-2783-BB59E2245A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A9AF8E-3F90-4899-B40C-F9F96615EE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213" y="1121163"/>
            <a:ext cx="7559675" cy="360000"/>
          </a:xfrm>
        </p:spPr>
        <p:txBody>
          <a:bodyPr/>
          <a:lstStyle/>
          <a:p>
            <a:r>
              <a:rPr lang="en-IN" b="1" dirty="0"/>
              <a:t>Bottleneck Analysis</a:t>
            </a:r>
          </a:p>
          <a:p>
            <a:endParaRPr lang="en-IN" b="1" dirty="0"/>
          </a:p>
          <a:p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CE2AB6-395B-CCF5-4E89-DBE1D16358E3}"/>
              </a:ext>
            </a:extLst>
          </p:cNvPr>
          <p:cNvSpPr txBox="1"/>
          <p:nvPr/>
        </p:nvSpPr>
        <p:spPr>
          <a:xfrm>
            <a:off x="518452" y="1481163"/>
            <a:ext cx="547595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initial EDA identified a repeated process pattern: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Triage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↓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X-Ray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↓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Triage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total of:</a:t>
            </a: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78 out of 200 patients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experienced this loop.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represents: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39% of patient cases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event-to-event wait: ≈ 13.52 minutes.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X-Ray → Triage wait for loop cases: ≈ 19.95 minutes.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repeated Triage pattern was identified as the primary process deviation for further investigation.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CE0B96-26FE-1594-2C92-3C810E9F7740}"/>
              </a:ext>
            </a:extLst>
          </p:cNvPr>
          <p:cNvSpPr txBox="1"/>
          <p:nvPr/>
        </p:nvSpPr>
        <p:spPr>
          <a:xfrm>
            <a:off x="6096000" y="1542527"/>
            <a:ext cx="575023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Waiting-time analysis was performed to understand the time spent between consecutive hospital activities.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Particular attention was given to transitions associated with the identified bottleneck, including: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X-Ray → Triage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also considered important transitions such as: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Triage → X-Ray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X-Ray → Triage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Triage → Doctor Consultation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Doctor Consultation → X-Ray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Waiting-time analysis complements bottleneck analysis by considering both the frequency of process transitions and the time associated with movement between activities.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D158F5-FDCA-C87E-C3E3-E39499A96B55}"/>
              </a:ext>
            </a:extLst>
          </p:cNvPr>
          <p:cNvSpPr txBox="1"/>
          <p:nvPr/>
        </p:nvSpPr>
        <p:spPr>
          <a:xfrm>
            <a:off x="6096000" y="1068156"/>
            <a:ext cx="3352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Gill Sans MT (Headings)"/>
              </a:rPr>
              <a:t>Waiting-time</a:t>
            </a:r>
            <a:r>
              <a:rPr lang="en-IN" sz="2000" dirty="0">
                <a:solidFill>
                  <a:schemeClr val="bg1"/>
                </a:solidFill>
                <a:latin typeface="Gill Sans MT (Headings)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solidFill>
                  <a:schemeClr val="bg1"/>
                </a:solidFill>
                <a:latin typeface="Gill Sans MT (Headings)"/>
              </a:rPr>
              <a:t>Analysis</a:t>
            </a:r>
          </a:p>
          <a:p>
            <a:endParaRPr lang="en-IN" sz="2000" b="1" dirty="0"/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935730322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3439061-7C77-33E1-F31B-F6ECBE5929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5813" y="989083"/>
            <a:ext cx="8419147" cy="360000"/>
          </a:xfrm>
        </p:spPr>
        <p:txBody>
          <a:bodyPr/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Data Analysis to Formal Process Mining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97105B-0DC4-79AD-816A-BBAB34EC1F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6DC18A7-F942-27BC-94CF-CA3D795A2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00" y="269706"/>
            <a:ext cx="7560000" cy="370166"/>
          </a:xfrm>
        </p:spPr>
        <p:txBody>
          <a:bodyPr/>
          <a:lstStyle/>
          <a:p>
            <a:pPr algn="ctr"/>
            <a:r>
              <a:rPr lang="en-IN" dirty="0"/>
              <a:t>PM4Py Process Discovery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DCB7D6-9B04-2223-870B-4B3BCE8B4DF5}"/>
              </a:ext>
            </a:extLst>
          </p:cNvPr>
          <p:cNvSpPr txBox="1"/>
          <p:nvPr/>
        </p:nvSpPr>
        <p:spPr>
          <a:xfrm>
            <a:off x="701024" y="1349083"/>
            <a:ext cx="10789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PM4Py was introduced to move from manual Pandas-based process analysis to formal process discovery and</a:t>
            </a:r>
            <a:r>
              <a:rPr lang="en-IN" dirty="0"/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discover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patient workflow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cleaned event  log.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9AF36A-786D-77C0-BACE-8C51823743F6}"/>
              </a:ext>
            </a:extLst>
          </p:cNvPr>
          <p:cNvSpPr txBox="1"/>
          <p:nvPr/>
        </p:nvSpPr>
        <p:spPr>
          <a:xfrm>
            <a:off x="701024" y="2254349"/>
            <a:ext cx="60960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Aft>
                <a:spcPts val="120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discovery implementation successfully generated: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Directly-Follows Graph (DFG)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Petri Net process model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Process-map visualizations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485473-BB45-479D-BB54-0F7368144623}"/>
              </a:ext>
            </a:extLst>
          </p:cNvPr>
          <p:cNvSpPr txBox="1"/>
          <p:nvPr/>
        </p:nvSpPr>
        <p:spPr>
          <a:xfrm>
            <a:off x="785813" y="3962508"/>
            <a:ext cx="1070516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PM4Py?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discovers activity sequences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actual patient flow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Reveals frequent transitions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loops and process variations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formal process model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Successfully executed and verified from a fresh clone. PM4Py confirmed the normal patient pathway and exposed the repeated Triage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X-Ray.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EA41E5-5A34-04B1-B835-06BAB58AEDCB}"/>
              </a:ext>
            </a:extLst>
          </p:cNvPr>
          <p:cNvSpPr txBox="1"/>
          <p:nvPr/>
        </p:nvSpPr>
        <p:spPr>
          <a:xfrm>
            <a:off x="8798238" y="3085345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Event Log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PM4Py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Discovery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DFG + Petri Net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8B8D8A-166D-6201-BE5A-D6DF731B345C}"/>
              </a:ext>
            </a:extLst>
          </p:cNvPr>
          <p:cNvSpPr txBox="1"/>
          <p:nvPr/>
        </p:nvSpPr>
        <p:spPr>
          <a:xfrm>
            <a:off x="8211498" y="2601484"/>
            <a:ext cx="7269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Discovery Workflow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97FBD9-694E-149F-46FF-85A8FBF4BB2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" y="190500"/>
            <a:ext cx="11763376" cy="639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12699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F2E1DA-BC6F-76C6-2D43-CA446220E8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253" y="1117477"/>
            <a:ext cx="7559675" cy="360000"/>
          </a:xfrm>
        </p:spPr>
        <p:txBody>
          <a:bodyPr/>
          <a:lstStyle/>
          <a:p>
            <a:r>
              <a:rPr lang="en-IN" b="1" dirty="0"/>
              <a:t>1. Directly-Follows Graph (DFG)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201449-8478-4343-492F-D9CE9634EC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C6C436-AD0A-0C4B-B32D-567B94FB0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4400" y="350986"/>
            <a:ext cx="7560000" cy="370166"/>
          </a:xfrm>
        </p:spPr>
        <p:txBody>
          <a:bodyPr/>
          <a:lstStyle/>
          <a:p>
            <a:pPr algn="ctr"/>
            <a:r>
              <a:rPr lang="en-IN" dirty="0"/>
              <a:t>PM4Py Outputs: DFG &amp; Petri Net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E1DC75-AEDA-7AB4-EA5D-10A5B97394C3}"/>
              </a:ext>
            </a:extLst>
          </p:cNvPr>
          <p:cNvSpPr txBox="1"/>
          <p:nvPr/>
        </p:nvSpPr>
        <p:spPr>
          <a:xfrm>
            <a:off x="674053" y="1477477"/>
            <a:ext cx="5655627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DFG represents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activity-to-activity transitions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patient journey.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us identify: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transitions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paths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frequencies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Loop-backs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Potentially unusual transitions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Triage → X-Ray → Triage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318A3A-0FE4-FD14-E01B-A364E602C553}"/>
              </a:ext>
            </a:extLst>
          </p:cNvPr>
          <p:cNvSpPr txBox="1"/>
          <p:nvPr/>
        </p:nvSpPr>
        <p:spPr>
          <a:xfrm>
            <a:off x="6380480" y="1402763"/>
            <a:ext cx="5465758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Petri Net process model was generated using PM4Py.</a:t>
            </a:r>
          </a:p>
          <a:p>
            <a:pPr indent="0"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provides a structured representation of the discovered patient workflow and helps visualize: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Activities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Transitions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 paths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Repeated process </a:t>
            </a:r>
            <a:r>
              <a:rPr lang="en-IN" b="0" i="0" dirty="0" err="1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endParaRPr lang="en-IN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Possible deviations</a:t>
            </a:r>
          </a:p>
          <a:p>
            <a:pPr indent="0"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generated Petri Net was successfully verified during the PM4Py workflow testing.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F498BF-5211-DA7D-9E85-B037F5469809}"/>
              </a:ext>
            </a:extLst>
          </p:cNvPr>
          <p:cNvSpPr txBox="1"/>
          <p:nvPr/>
        </p:nvSpPr>
        <p:spPr>
          <a:xfrm>
            <a:off x="6394400" y="991930"/>
            <a:ext cx="3938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1F2328"/>
                </a:solidFill>
                <a:latin typeface="Gill Sans MT (Headings)"/>
                <a:cs typeface="Times New Roman" panose="02020603050405020304" pitchFamily="18" charset="0"/>
              </a:rPr>
              <a:t>2.Petri Net Process Model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F2EDFB-C0BD-90F4-62DE-A25A007D6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4480" y="5455236"/>
            <a:ext cx="4826000" cy="10429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4118C7-E9B6-A063-78CD-C91AD00344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73" y="5455236"/>
            <a:ext cx="5533707" cy="10429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4B19B21-A405-4A0B-8DD7-F5811E17CA1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3680" y="203200"/>
            <a:ext cx="11755119" cy="645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493060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7E53911-E4E9-D32C-DC13-0934D037249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prstClr val="black">
              <a:lumMod val="75000"/>
              <a:lumOff val="25000"/>
            </a:prstClr>
          </a:solidFill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F707932-D812-6A33-9B76-D753C8ABD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8160" y="432376"/>
            <a:ext cx="7560000" cy="360000"/>
          </a:xfrm>
        </p:spPr>
        <p:txBody>
          <a:bodyPr/>
          <a:lstStyle/>
          <a:p>
            <a:pPr algn="ctr"/>
            <a:r>
              <a:rPr lang="en-IN" dirty="0"/>
              <a:t>Conformance Checking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9681B8-71C1-5FC0-B3F4-4017464FDD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2D28BB-48AA-9403-9375-F7602229F8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213" y="1330123"/>
            <a:ext cx="5117147" cy="360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Conformance checking was performed to compare actual patient journeys against the expected hospital pathway.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reference pathway used for the analysis was: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Triage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↓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X-Ray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↓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Doctor Consult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↓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Discharge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C8294B-A5EB-577E-4F97-46E240192138}"/>
              </a:ext>
            </a:extLst>
          </p:cNvPr>
          <p:cNvSpPr txBox="1"/>
          <p:nvPr/>
        </p:nvSpPr>
        <p:spPr>
          <a:xfrm>
            <a:off x="5973320" y="1225643"/>
            <a:ext cx="6096000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of the </a:t>
            </a: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 patient cases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was compared with the expected pathway.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case is </a:t>
            </a: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conformant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when its activity sequence exactly matches the defined ideal path.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Additional/repeated activities result in a </a:t>
            </a: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deviating case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Conformance checking identifies: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deviations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Repeated activities </a:t>
            </a:r>
          </a:p>
        </p:txBody>
      </p:sp>
    </p:spTree>
    <p:extLst>
      <p:ext uri="{BB962C8B-B14F-4D97-AF65-F5344CB8AC3E}">
        <p14:creationId xmlns:p14="http://schemas.microsoft.com/office/powerpoint/2010/main" val="1792007827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4A59F9-5F9C-A5D4-AB57-6EE258DF93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16293" y="1039883"/>
            <a:ext cx="7559675" cy="360000"/>
          </a:xfrm>
        </p:spPr>
        <p:txBody>
          <a:bodyPr/>
          <a:lstStyle/>
          <a:p>
            <a:r>
              <a:rPr lang="en-IN" dirty="0"/>
              <a:t>Conformance 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51EC9F-EE71-4131-3F35-1BBCFB10B8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29BFE7-A84E-3A87-D71D-575D34284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5520" y="310346"/>
            <a:ext cx="7918880" cy="370166"/>
          </a:xfrm>
        </p:spPr>
        <p:txBody>
          <a:bodyPr/>
          <a:lstStyle/>
          <a:p>
            <a:pPr algn="ctr"/>
            <a:r>
              <a:rPr lang="en-IN" dirty="0"/>
              <a:t>Conformance  Findings  &amp;  Results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413E7B-6C85-267E-52D3-7D6B9F782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489995"/>
              </p:ext>
            </p:extLst>
          </p:nvPr>
        </p:nvGraphicFramePr>
        <p:xfrm>
          <a:off x="2838132" y="1574279"/>
          <a:ext cx="5614989" cy="1463040"/>
        </p:xfrm>
        <a:graphic>
          <a:graphicData uri="http://schemas.openxmlformats.org/drawingml/2006/table">
            <a:tbl>
              <a:tblPr/>
              <a:tblGrid>
                <a:gridCol w="1871663">
                  <a:extLst>
                    <a:ext uri="{9D8B030D-6E8A-4147-A177-3AD203B41FA5}">
                      <a16:colId xmlns:a16="http://schemas.microsoft.com/office/drawing/2014/main" val="1016619962"/>
                    </a:ext>
                  </a:extLst>
                </a:gridCol>
                <a:gridCol w="1871663">
                  <a:extLst>
                    <a:ext uri="{9D8B030D-6E8A-4147-A177-3AD203B41FA5}">
                      <a16:colId xmlns:a16="http://schemas.microsoft.com/office/drawing/2014/main" val="15216726"/>
                    </a:ext>
                  </a:extLst>
                </a:gridCol>
                <a:gridCol w="1871663">
                  <a:extLst>
                    <a:ext uri="{9D8B030D-6E8A-4147-A177-3AD203B41FA5}">
                      <a16:colId xmlns:a16="http://schemas.microsoft.com/office/drawing/2014/main" val="353545253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Cases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Percentage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46844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🟢 Conformant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b="1" dirty="0"/>
                        <a:t>122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b="1" dirty="0"/>
                        <a:t>61.0%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43266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🔴 Deviating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b="1" dirty="0"/>
                        <a:t>78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b="1" dirty="0"/>
                        <a:t>39.0%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36485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Total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b="1"/>
                        <a:t>200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b="1" dirty="0"/>
                        <a:t>100%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77702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A9465BA-C49F-D2BC-FB31-D3844DA07DAF}"/>
              </a:ext>
            </a:extLst>
          </p:cNvPr>
          <p:cNvSpPr txBox="1"/>
          <p:nvPr/>
        </p:nvSpPr>
        <p:spPr>
          <a:xfrm>
            <a:off x="816293" y="3211715"/>
            <a:ext cx="10434321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Interpretation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61.0%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cases followed the defined ideal pathway.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39.0%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cases deviated from the expected pathway.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observed pattern</a:t>
            </a:r>
          </a:p>
          <a:p>
            <a:pPr marL="285750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Triage → X-Ray → Triage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 deviating cases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align with the repeated Triage pattern identified during EDA and process analysis.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39.0% pattern is observed across multiple stages of analysis.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CA4F82-78E3-452F-FDF5-4958A84A056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73" y="186612"/>
            <a:ext cx="11765903" cy="655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460210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26173B-989C-7939-4F5A-82015EF4C0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4213" y="1405643"/>
            <a:ext cx="10559175" cy="3600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analysis identified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happened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root-cause analysis investigated a possible reason for the loop.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66AC8A-FD4C-671E-DF21-9943395C79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560B7C-E673-A90F-CD93-E2776A268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999" y="707810"/>
            <a:ext cx="7560000" cy="370166"/>
          </a:xfrm>
        </p:spPr>
        <p:txBody>
          <a:bodyPr/>
          <a:lstStyle/>
          <a:p>
            <a:r>
              <a:rPr lang="en-IN" dirty="0"/>
              <a:t>Root - Cause  Investigation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6B475E-BDC2-2397-1486-C2234619D9E9}"/>
              </a:ext>
            </a:extLst>
          </p:cNvPr>
          <p:cNvSpPr txBox="1"/>
          <p:nvPr/>
        </p:nvSpPr>
        <p:spPr>
          <a:xfrm>
            <a:off x="684000" y="2200766"/>
            <a:ext cx="609755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simulated patient-level field was introduced:</a:t>
            </a:r>
          </a:p>
          <a:p>
            <a:pPr rtl="0">
              <a:buNone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Missing_Paperwork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Results:-</a:t>
            </a:r>
          </a:p>
          <a:p>
            <a:pPr rtl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20DC68D-CD58-1A6E-DA27-8078DE6C67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05131"/>
              </p:ext>
            </p:extLst>
          </p:nvPr>
        </p:nvGraphicFramePr>
        <p:xfrm>
          <a:off x="776001" y="3411341"/>
          <a:ext cx="6968406" cy="1097280"/>
        </p:xfrm>
        <a:graphic>
          <a:graphicData uri="http://schemas.openxmlformats.org/drawingml/2006/table">
            <a:tbl>
              <a:tblPr>
                <a:tableStyleId>{F2DE63D5-997A-4646-A377-4702673A728D}</a:tableStyleId>
              </a:tblPr>
              <a:tblGrid>
                <a:gridCol w="2322802">
                  <a:extLst>
                    <a:ext uri="{9D8B030D-6E8A-4147-A177-3AD203B41FA5}">
                      <a16:colId xmlns:a16="http://schemas.microsoft.com/office/drawing/2014/main" val="2439388376"/>
                    </a:ext>
                  </a:extLst>
                </a:gridCol>
                <a:gridCol w="2322802">
                  <a:extLst>
                    <a:ext uri="{9D8B030D-6E8A-4147-A177-3AD203B41FA5}">
                      <a16:colId xmlns:a16="http://schemas.microsoft.com/office/drawing/2014/main" val="2119101519"/>
                    </a:ext>
                  </a:extLst>
                </a:gridCol>
                <a:gridCol w="2322802">
                  <a:extLst>
                    <a:ext uri="{9D8B030D-6E8A-4147-A177-3AD203B41FA5}">
                      <a16:colId xmlns:a16="http://schemas.microsoft.com/office/drawing/2014/main" val="370301872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Missing Paperwork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Did Not Loop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Looped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525496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42725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924766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8A82FD8-4E09-F9FA-1E9D-C09BAFF219A2}"/>
              </a:ext>
            </a:extLst>
          </p:cNvPr>
          <p:cNvSpPr txBox="1"/>
          <p:nvPr/>
        </p:nvSpPr>
        <p:spPr>
          <a:xfrm>
            <a:off x="683999" y="4672817"/>
            <a:ext cx="7890833" cy="1288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the simulated dataset, the association is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This is a simulated proof of concept and does not prove a real clinical cause.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Status: ✅ Completed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85933BC-1633-2D4C-48C6-53CAB4328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944124"/>
              </p:ext>
            </p:extLst>
          </p:nvPr>
        </p:nvGraphicFramePr>
        <p:xfrm>
          <a:off x="776002" y="3396101"/>
          <a:ext cx="6968406" cy="11125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322802">
                  <a:extLst>
                    <a:ext uri="{9D8B030D-6E8A-4147-A177-3AD203B41FA5}">
                      <a16:colId xmlns:a16="http://schemas.microsoft.com/office/drawing/2014/main" val="3349895039"/>
                    </a:ext>
                  </a:extLst>
                </a:gridCol>
                <a:gridCol w="2322802">
                  <a:extLst>
                    <a:ext uri="{9D8B030D-6E8A-4147-A177-3AD203B41FA5}">
                      <a16:colId xmlns:a16="http://schemas.microsoft.com/office/drawing/2014/main" val="2895416829"/>
                    </a:ext>
                  </a:extLst>
                </a:gridCol>
                <a:gridCol w="2322802">
                  <a:extLst>
                    <a:ext uri="{9D8B030D-6E8A-4147-A177-3AD203B41FA5}">
                      <a16:colId xmlns:a16="http://schemas.microsoft.com/office/drawing/2014/main" val="36833123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Missing Paperwork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Did Not Loop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Looped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919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870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490336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1DF859D0-9FE9-1A65-840A-448F63FF6F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72" y="195942"/>
            <a:ext cx="11747241" cy="64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577733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F4D56A-C19F-419F-7CB1-466EC24BCB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4001" y="1142708"/>
            <a:ext cx="5632824" cy="360000"/>
          </a:xfrm>
        </p:spPr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event data was integrated into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transformed using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8C3C75-753D-952A-8875-82875A36F8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650318-5875-B627-E5D3-30FECBBA3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531" y="509607"/>
            <a:ext cx="11299371" cy="370166"/>
          </a:xfrm>
        </p:spPr>
        <p:txBody>
          <a:bodyPr/>
          <a:lstStyle/>
          <a:p>
            <a:r>
              <a:rPr lang="en-IN" dirty="0" err="1"/>
              <a:t>BigQuery</a:t>
            </a:r>
            <a:r>
              <a:rPr lang="en-IN" dirty="0"/>
              <a:t> + </a:t>
            </a:r>
            <a:r>
              <a:rPr lang="en-IN" dirty="0" err="1"/>
              <a:t>dbt</a:t>
            </a:r>
            <a:r>
              <a:rPr lang="en-IN" dirty="0"/>
              <a:t> Analytics        Cross-Validation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927C58-8A48-DCF2-7D51-7E87AD9DC1FC}"/>
              </a:ext>
            </a:extLst>
          </p:cNvPr>
          <p:cNvSpPr txBox="1"/>
          <p:nvPr/>
        </p:nvSpPr>
        <p:spPr>
          <a:xfrm>
            <a:off x="684001" y="1651997"/>
            <a:ext cx="6097554" cy="5028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analytics pipeline includes: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stg_hospital_event_log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patient_events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patient_transitions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case_summary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conformance_summary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</a:t>
            </a:r>
          </a:p>
          <a:p>
            <a:pPr rtl="0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/ 15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Tests Passed</a:t>
            </a:r>
          </a:p>
          <a:p>
            <a:pPr rtl="0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Errors</a:t>
            </a:r>
          </a:p>
          <a:p>
            <a:pPr rtl="0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Warnings</a:t>
            </a:r>
          </a:p>
          <a:p>
            <a:pPr rtl="0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Skipped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Status: ✅ Completed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B5B6E4-4BA4-4023-A698-CEC09327182D}"/>
              </a:ext>
            </a:extLst>
          </p:cNvPr>
          <p:cNvSpPr txBox="1"/>
          <p:nvPr/>
        </p:nvSpPr>
        <p:spPr>
          <a:xfrm>
            <a:off x="6419460" y="1122721"/>
            <a:ext cx="5245605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results were independently compared with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analytics.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A6C82E8-ED75-3824-4111-F0DBE4B66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996448"/>
              </p:ext>
            </p:extLst>
          </p:nvPr>
        </p:nvGraphicFramePr>
        <p:xfrm>
          <a:off x="6419460" y="2254540"/>
          <a:ext cx="5426778" cy="211870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808926">
                  <a:extLst>
                    <a:ext uri="{9D8B030D-6E8A-4147-A177-3AD203B41FA5}">
                      <a16:colId xmlns:a16="http://schemas.microsoft.com/office/drawing/2014/main" val="4145162606"/>
                    </a:ext>
                  </a:extLst>
                </a:gridCol>
                <a:gridCol w="1808926">
                  <a:extLst>
                    <a:ext uri="{9D8B030D-6E8A-4147-A177-3AD203B41FA5}">
                      <a16:colId xmlns:a16="http://schemas.microsoft.com/office/drawing/2014/main" val="324800394"/>
                    </a:ext>
                  </a:extLst>
                </a:gridCol>
                <a:gridCol w="1808926">
                  <a:extLst>
                    <a:ext uri="{9D8B030D-6E8A-4147-A177-3AD203B41FA5}">
                      <a16:colId xmlns:a16="http://schemas.microsoft.com/office/drawing/2014/main" val="3726027525"/>
                    </a:ext>
                  </a:extLst>
                </a:gridCol>
              </a:tblGrid>
              <a:tr h="529677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BigQuery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782637"/>
                  </a:ext>
                </a:extLst>
              </a:tr>
              <a:tr h="529677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151802"/>
                  </a:ext>
                </a:extLst>
              </a:tr>
              <a:tr h="529677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Deviating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654438"/>
                  </a:ext>
                </a:extLst>
              </a:tr>
              <a:tr h="529677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Deviation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334393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D68A63B-BB4F-645D-244E-1D0D4730D0FE}"/>
              </a:ext>
            </a:extLst>
          </p:cNvPr>
          <p:cNvSpPr txBox="1"/>
          <p:nvPr/>
        </p:nvSpPr>
        <p:spPr>
          <a:xfrm>
            <a:off x="6419460" y="4601001"/>
            <a:ext cx="5298356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Exact Match ✅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confirms that the final process deviation result is reproduced across independent analytics implementations.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36A1617-9E77-9648-5EEB-C5DD9A82EF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44" y="177832"/>
            <a:ext cx="11784562" cy="65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697922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DC4DEA6-EE8F-4F41-E54D-937DB37CC36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prstClr val="black">
              <a:lumMod val="75000"/>
              <a:lumOff val="25000"/>
            </a:prstClr>
          </a:solidFill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0CA17FB-2594-8524-EB5B-32B739B3D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2745" y="488956"/>
            <a:ext cx="12534745" cy="360000"/>
          </a:xfrm>
        </p:spPr>
        <p:txBody>
          <a:bodyPr/>
          <a:lstStyle/>
          <a:p>
            <a:pPr algn="ctr"/>
            <a:r>
              <a:rPr lang="en-IN" dirty="0"/>
              <a:t>Power  BI  Dashboard             Patient Drill through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F607A-5076-FA5F-F209-BAE56B70F3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C4FBEE-8F21-34B8-B39C-3113ED857568}"/>
              </a:ext>
            </a:extLst>
          </p:cNvPr>
          <p:cNvSpPr txBox="1"/>
          <p:nvPr/>
        </p:nvSpPr>
        <p:spPr>
          <a:xfrm>
            <a:off x="780038" y="1070169"/>
            <a:ext cx="5736001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completed Power BI dashboard provides: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Cases.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Events.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Conformance %.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Deviating %.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Wait Time.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 distribution.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transitions.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Conformance split.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Bottleneck analysis.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Patient-level </a:t>
            </a:r>
            <a:r>
              <a:rPr lang="en-IN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drillthrough</a:t>
            </a: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is connected to the final </a:t>
            </a:r>
            <a:r>
              <a:rPr lang="en-IN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analytics layer.</a:t>
            </a:r>
          </a:p>
          <a:p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KPI</a:t>
            </a:r>
          </a:p>
          <a:p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Deviating % = 78 / 200 = 39.00%</a:t>
            </a:r>
          </a:p>
          <a:p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Status: ✅ Completed and Validated</a:t>
            </a:r>
          </a:p>
          <a:p>
            <a:pPr>
              <a:buNone/>
            </a:pP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DF49C3-28E8-5315-1D5E-D9A84ABEC64C}"/>
              </a:ext>
            </a:extLst>
          </p:cNvPr>
          <p:cNvSpPr txBox="1"/>
          <p:nvPr/>
        </p:nvSpPr>
        <p:spPr>
          <a:xfrm>
            <a:off x="6516039" y="1152596"/>
            <a:ext cx="6096000" cy="3411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Patient Details page was implemented using:</a:t>
            </a:r>
          </a:p>
          <a:p>
            <a:pPr algn="just">
              <a:lnSpc>
                <a:spcPct val="150000"/>
              </a:lnSpc>
            </a:pPr>
            <a:r>
              <a:rPr lang="en-IN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Case_ID</a:t>
            </a:r>
            <a:endParaRPr lang="en-IN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drillthrough</a:t>
            </a: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displays: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Case_ID</a:t>
            </a:r>
            <a:endParaRPr lang="en-IN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Activity_Name</a:t>
            </a:r>
            <a:endParaRPr lang="en-IN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Timestamp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functionality was successfully tested using patient P001.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Status: ✅ Completed and Working</a:t>
            </a:r>
          </a:p>
          <a:p>
            <a:pPr algn="just">
              <a:lnSpc>
                <a:spcPct val="15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1737891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6DEB800-A42A-B17D-E3A8-ED211E9D239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0000" y="179109"/>
            <a:ext cx="11395764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prstClr val="black">
              <a:lumMod val="75000"/>
              <a:lumOff val="25000"/>
            </a:prstClr>
          </a:solidFill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B7058-1F91-3207-3FF2-EE528C86B9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178586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6B99D3-B110-F078-4863-94650FE047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C67664-833B-26DA-9279-0061056FF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10111518" cy="370166"/>
          </a:xfrm>
        </p:spPr>
        <p:txBody>
          <a:bodyPr/>
          <a:lstStyle/>
          <a:p>
            <a:r>
              <a:rPr lang="en-IN" dirty="0"/>
              <a:t>Final Results                            Key Insights</a:t>
            </a:r>
            <a:br>
              <a:rPr lang="en-IN" dirty="0"/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0AB45A-0F24-E1A2-0D95-DD87685FF750}"/>
              </a:ext>
            </a:extLst>
          </p:cNvPr>
          <p:cNvSpPr txBox="1"/>
          <p:nvPr/>
        </p:nvSpPr>
        <p:spPr>
          <a:xfrm>
            <a:off x="684000" y="1326774"/>
            <a:ext cx="6097554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Cases = 200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Events = 878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Conformant Cases = 122 (61.0%)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Deviating Cases = 78 (39.0%)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Deviation = Triage → X-Ray → Triage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Wait ≈ 13.52 minutes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X-Ray → Triage Wait ≈ 19.95 minutes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Tests = 15/15 Passed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 = Exact Match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6FD560-393F-35AD-FBFC-A511712395E2}"/>
              </a:ext>
            </a:extLst>
          </p:cNvPr>
          <p:cNvSpPr txBox="1"/>
          <p:nvPr/>
        </p:nvSpPr>
        <p:spPr>
          <a:xfrm>
            <a:off x="5866619" y="1309940"/>
            <a:ext cx="5641381" cy="5859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mining reveals sequence-level patterns that traditional KPIs may hide.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Triage → X-Ray → Triage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loop is the main process deviation.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39.0%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patient cases deviate from the expected pathway.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simulated root-cause field demonstrates a method for hypothesis testing.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independently produced matching results.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provides an interactive view of the validated process insights.</a:t>
            </a:r>
          </a:p>
          <a:p>
            <a:pPr algn="just">
              <a:lnSpc>
                <a:spcPct val="150000"/>
              </a:lnSpc>
              <a:buNone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B5D99A-6B9A-4C89-86ED-C0C826D00D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73" y="186612"/>
            <a:ext cx="11775233" cy="648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482801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BFAEFF-CE7E-42F5-07C0-2BA8D90AFE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3AA139-8BED-888D-463D-65D3915E2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5440" y="452586"/>
            <a:ext cx="7560000" cy="370166"/>
          </a:xfrm>
        </p:spPr>
        <p:txBody>
          <a:bodyPr/>
          <a:lstStyle/>
          <a:p>
            <a:pPr algn="ctr"/>
            <a:r>
              <a:rPr lang="en-IN" dirty="0"/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EBE6F4-39D7-A22B-2524-D40C888D1F86}"/>
              </a:ext>
            </a:extLst>
          </p:cNvPr>
          <p:cNvSpPr txBox="1"/>
          <p:nvPr/>
        </p:nvSpPr>
        <p:spPr>
          <a:xfrm>
            <a:off x="1124353" y="1126453"/>
            <a:ext cx="9943294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CareFlow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delivers an end-to-end clinical pathway process-mining workflow.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progressed from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generation and data cleaning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discovery, conformance checking, root-cause investigation,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analytics, cross-validation and Power BI reporting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dataset contains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 patient cases and 878 events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main process deviation is: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Triage → X-Ray → Triage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pattern affects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 out of 200 cases (39.0%)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results were independently validated using Python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completed Power BI dashboard provides interactive process insights and patient-level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drillthrough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221439-2EF6-3C97-46C1-5FFF684EA4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58" y="213360"/>
            <a:ext cx="11858679" cy="643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66880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98F32D5F-7463-B582-F8EA-110BFFACB7F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  <a:solidFill>
            <a:prstClr val="black">
              <a:lumMod val="75000"/>
              <a:lumOff val="25000"/>
            </a:prstClr>
          </a:solidFill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17F5BF1-88DB-42F2-98A6-4C7FBFC311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F39051-1049-4508-8373-6A289966A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399" y="2238573"/>
            <a:ext cx="10629202" cy="1190427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bject 7" descr="Beige rectangle">
            <a:extLst>
              <a:ext uri="{FF2B5EF4-FFF2-40B4-BE49-F238E27FC236}">
                <a16:creationId xmlns:a16="http://schemas.microsoft.com/office/drawing/2014/main" id="{2D7851E8-1907-4C8A-A16F-E461B5BFA940}"/>
              </a:ext>
            </a:extLst>
          </p:cNvPr>
          <p:cNvSpPr/>
          <p:nvPr/>
        </p:nvSpPr>
        <p:spPr bwMode="white">
          <a:xfrm flipV="1">
            <a:off x="1204699" y="37916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6954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MS Healthcare Pitch">
      <a:dk1>
        <a:sysClr val="windowText" lastClr="000000"/>
      </a:dk1>
      <a:lt1>
        <a:sysClr val="window" lastClr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MS Healthcare Pitch">
      <a:majorFont>
        <a:latin typeface="Gill Sans MT"/>
        <a:ea typeface=""/>
        <a:cs typeface=""/>
      </a:majorFont>
      <a:minorFont>
        <a:latin typeface="Arial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tx2"/>
            </a:gs>
            <a:gs pos="100000">
              <a:schemeClr val="accent2"/>
            </a:gs>
          </a:gsLst>
          <a:lin ang="14400000" scaled="0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MB Healthcare Pitch Deck SB_v3" id="{F20654C3-30CB-4A23-AE37-CA3918CCFD51}" vid="{71C4247B-9648-406B-9B0E-E712402798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66BDC7-24D2-4343-8D41-18F9C23F860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4BDB64-2AF8-42D4-96C8-B6B6F098993C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33BAED8-F9E7-4D41-86E9-333473F909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Healthcare office pitch deck</Template>
  <TotalTime>657</TotalTime>
  <Words>1913</Words>
  <Application>Microsoft Office PowerPoint</Application>
  <PresentationFormat>Widescreen</PresentationFormat>
  <Paragraphs>391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Arial </vt:lpstr>
      <vt:lpstr>Calibri</vt:lpstr>
      <vt:lpstr>Courier New</vt:lpstr>
      <vt:lpstr>Gill Sans MT</vt:lpstr>
      <vt:lpstr>Gill Sans MT (Headings)</vt:lpstr>
      <vt:lpstr>Times New Roman</vt:lpstr>
      <vt:lpstr>Wingdings</vt:lpstr>
      <vt:lpstr>Office Theme</vt:lpstr>
      <vt:lpstr>CAREFLOW – CLINICAL PATHWAY PROCESS MINING (final-Review)                                   Team  Members                                                                                                                                   Anagha  S  Pillai                                                                                                                                    Yashaswini  N  P                                                                                                                                    Vaishnavi  Dipak  Bhagat </vt:lpstr>
      <vt:lpstr>Introduction</vt:lpstr>
      <vt:lpstr>      Problem statement  and  project objectives</vt:lpstr>
      <vt:lpstr>Project    Workflow</vt:lpstr>
      <vt:lpstr>Weekly Progress Updates</vt:lpstr>
      <vt:lpstr>Technology  Stack  </vt:lpstr>
      <vt:lpstr>Data Preparation &amp; Cleaning</vt:lpstr>
      <vt:lpstr>EDA &amp; Initial Findings</vt:lpstr>
      <vt:lpstr>Bottleneck  &amp;  Waiting-Time  Analysis</vt:lpstr>
      <vt:lpstr>PM4Py Process Discovery</vt:lpstr>
      <vt:lpstr>PM4Py Outputs: DFG &amp; Petri Net</vt:lpstr>
      <vt:lpstr>Conformance Checking</vt:lpstr>
      <vt:lpstr>Conformance  Findings  &amp;  Results</vt:lpstr>
      <vt:lpstr>Root - Cause  Investigation</vt:lpstr>
      <vt:lpstr>BigQuery + dbt Analytics        Cross-Validation</vt:lpstr>
      <vt:lpstr>Power  BI  Dashboard             Patient Drill through </vt:lpstr>
      <vt:lpstr>PowerPoint Presentation</vt:lpstr>
      <vt:lpstr>Final Results                            Key Insights 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Yashaswini N P</dc:creator>
  <cp:lastModifiedBy>Yashaswini N P</cp:lastModifiedBy>
  <cp:revision>66</cp:revision>
  <dcterms:created xsi:type="dcterms:W3CDTF">2026-08-22T10:10:31Z</dcterms:created>
  <dcterms:modified xsi:type="dcterms:W3CDTF">2026-09-08T14:53:36Z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